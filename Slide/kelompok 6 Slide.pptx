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ungee" charset="1" panose="00000000000000000000"/>
      <p:regular r:id="rId20"/>
    </p:embeddedFont>
    <p:embeddedFont>
      <p:font typeface="Krub Bold" charset="1" panose="00000800000000000000"/>
      <p:regular r:id="rId21"/>
    </p:embeddedFont>
    <p:embeddedFont>
      <p:font typeface="Krub"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1.png" Type="http://schemas.openxmlformats.org/officeDocument/2006/relationships/image"/><Relationship Id="rId7" Target="../media/image16.png" Type="http://schemas.openxmlformats.org/officeDocument/2006/relationships/image"/><Relationship Id="rId8" Target="https://canva.link/os1pjd66nikx7x1"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1.png" Type="http://schemas.openxmlformats.org/officeDocument/2006/relationships/image"/><Relationship Id="rId7" Target="../media/image16.png" Type="http://schemas.openxmlformats.org/officeDocument/2006/relationships/image"/><Relationship Id="rId8" Target="https://canva.link/os1pjd66nikx7x1"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1.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1.png" Type="http://schemas.openxmlformats.org/officeDocument/2006/relationships/image"/><Relationship Id="rId7" Target="../media/image16.png" Type="http://schemas.openxmlformats.org/officeDocument/2006/relationships/image"/><Relationship Id="rId8" Target="../media/image22.png" Type="http://schemas.openxmlformats.org/officeDocument/2006/relationships/image"/><Relationship Id="rId9" Target="https://www.kaggle.com/datasets/achilham/data-mahasiswa"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6.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2779065" y="2350803"/>
            <a:ext cx="12729871" cy="4477328"/>
          </a:xfrm>
          <a:prstGeom prst="rect">
            <a:avLst/>
          </a:prstGeom>
        </p:spPr>
        <p:txBody>
          <a:bodyPr anchor="t" rtlCol="false" tIns="0" lIns="0" bIns="0" rIns="0">
            <a:spAutoFit/>
          </a:bodyPr>
          <a:lstStyle/>
          <a:p>
            <a:pPr algn="ctr">
              <a:lnSpc>
                <a:spcPts val="15914"/>
              </a:lnSpc>
            </a:pPr>
            <a:r>
              <a:rPr lang="en-US" sz="16407">
                <a:solidFill>
                  <a:srgbClr val="090147"/>
                </a:solidFill>
                <a:latin typeface="Bungee"/>
                <a:ea typeface="Bungee"/>
                <a:cs typeface="Bungee"/>
                <a:sym typeface="Bungee"/>
              </a:rPr>
              <a:t>kelompok 6</a:t>
            </a:r>
          </a:p>
        </p:txBody>
      </p:sp>
      <p:sp>
        <p:nvSpPr>
          <p:cNvPr name="Freeform 3" id="3"/>
          <p:cNvSpPr/>
          <p:nvPr/>
        </p:nvSpPr>
        <p:spPr>
          <a:xfrm flipH="false" flipV="false" rot="0">
            <a:off x="-652637" y="-721895"/>
            <a:ext cx="4062430" cy="4114800"/>
          </a:xfrm>
          <a:custGeom>
            <a:avLst/>
            <a:gdLst/>
            <a:ahLst/>
            <a:cxnLst/>
            <a:rect r="r" b="b" t="t" l="l"/>
            <a:pathLst>
              <a:path h="4114800" w="4062430">
                <a:moveTo>
                  <a:pt x="0" y="0"/>
                </a:moveTo>
                <a:lnTo>
                  <a:pt x="4062429" y="0"/>
                </a:lnTo>
                <a:lnTo>
                  <a:pt x="40624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08884" y="7041092"/>
            <a:ext cx="5174922" cy="5172766"/>
          </a:xfrm>
          <a:custGeom>
            <a:avLst/>
            <a:gdLst/>
            <a:ahLst/>
            <a:cxnLst/>
            <a:rect r="r" b="b" t="t" l="l"/>
            <a:pathLst>
              <a:path h="5172766" w="5174922">
                <a:moveTo>
                  <a:pt x="0" y="0"/>
                </a:moveTo>
                <a:lnTo>
                  <a:pt x="5174923" y="0"/>
                </a:lnTo>
                <a:lnTo>
                  <a:pt x="5174923" y="5172766"/>
                </a:lnTo>
                <a:lnTo>
                  <a:pt x="0" y="5172766"/>
                </a:lnTo>
                <a:lnTo>
                  <a:pt x="0" y="0"/>
                </a:lnTo>
                <a:close/>
              </a:path>
            </a:pathLst>
          </a:custGeom>
          <a:blipFill>
            <a:blip r:embed="rId4"/>
            <a:stretch>
              <a:fillRect l="0" t="0" r="0" b="0"/>
            </a:stretch>
          </a:blipFill>
        </p:spPr>
      </p:sp>
      <p:sp>
        <p:nvSpPr>
          <p:cNvPr name="Freeform 5" id="5"/>
          <p:cNvSpPr/>
          <p:nvPr/>
        </p:nvSpPr>
        <p:spPr>
          <a:xfrm flipH="false" flipV="false" rot="0">
            <a:off x="14322918" y="4783378"/>
            <a:ext cx="6733446" cy="7030847"/>
          </a:xfrm>
          <a:custGeom>
            <a:avLst/>
            <a:gdLst/>
            <a:ahLst/>
            <a:cxnLst/>
            <a:rect r="r" b="b" t="t" l="l"/>
            <a:pathLst>
              <a:path h="7030847" w="6733446">
                <a:moveTo>
                  <a:pt x="0" y="0"/>
                </a:moveTo>
                <a:lnTo>
                  <a:pt x="6733447" y="0"/>
                </a:lnTo>
                <a:lnTo>
                  <a:pt x="6733447" y="7030846"/>
                </a:lnTo>
                <a:lnTo>
                  <a:pt x="0" y="7030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882600" y="-1557683"/>
            <a:ext cx="5174922" cy="5172766"/>
          </a:xfrm>
          <a:custGeom>
            <a:avLst/>
            <a:gdLst/>
            <a:ahLst/>
            <a:cxnLst/>
            <a:rect r="r" b="b" t="t" l="l"/>
            <a:pathLst>
              <a:path h="5172766" w="5174922">
                <a:moveTo>
                  <a:pt x="0" y="0"/>
                </a:moveTo>
                <a:lnTo>
                  <a:pt x="5174922" y="0"/>
                </a:lnTo>
                <a:lnTo>
                  <a:pt x="5174922" y="5172766"/>
                </a:lnTo>
                <a:lnTo>
                  <a:pt x="0" y="5172766"/>
                </a:lnTo>
                <a:lnTo>
                  <a:pt x="0" y="0"/>
                </a:lnTo>
                <a:close/>
              </a:path>
            </a:pathLst>
          </a:custGeom>
          <a:blipFill>
            <a:blip r:embed="rId4"/>
            <a:stretch>
              <a:fillRect l="0" t="0" r="0" b="0"/>
            </a:stretch>
          </a:blipFill>
        </p:spPr>
      </p:sp>
      <p:grpSp>
        <p:nvGrpSpPr>
          <p:cNvPr name="Group 7" id="7"/>
          <p:cNvGrpSpPr/>
          <p:nvPr/>
        </p:nvGrpSpPr>
        <p:grpSpPr>
          <a:xfrm rot="0">
            <a:off x="6618371" y="6818096"/>
            <a:ext cx="4950995" cy="880311"/>
            <a:chOff x="0" y="0"/>
            <a:chExt cx="1303966" cy="231851"/>
          </a:xfrm>
        </p:grpSpPr>
        <p:sp>
          <p:nvSpPr>
            <p:cNvPr name="Freeform 8" id="8"/>
            <p:cNvSpPr/>
            <p:nvPr/>
          </p:nvSpPr>
          <p:spPr>
            <a:xfrm flipH="false" flipV="false" rot="0">
              <a:off x="0" y="0"/>
              <a:ext cx="1303966" cy="231851"/>
            </a:xfrm>
            <a:custGeom>
              <a:avLst/>
              <a:gdLst/>
              <a:ahLst/>
              <a:cxnLst/>
              <a:rect r="r" b="b" t="t" l="l"/>
              <a:pathLst>
                <a:path h="231851" w="1303966">
                  <a:moveTo>
                    <a:pt x="79163" y="0"/>
                  </a:moveTo>
                  <a:lnTo>
                    <a:pt x="1224803" y="0"/>
                  </a:lnTo>
                  <a:cubicBezTo>
                    <a:pt x="1268523" y="0"/>
                    <a:pt x="1303966" y="35442"/>
                    <a:pt x="1303966" y="79163"/>
                  </a:cubicBezTo>
                  <a:lnTo>
                    <a:pt x="1303966" y="152689"/>
                  </a:lnTo>
                  <a:cubicBezTo>
                    <a:pt x="1303966" y="173684"/>
                    <a:pt x="1295625" y="193819"/>
                    <a:pt x="1280779" y="208665"/>
                  </a:cubicBezTo>
                  <a:cubicBezTo>
                    <a:pt x="1265933" y="223511"/>
                    <a:pt x="1245798" y="231851"/>
                    <a:pt x="1224803" y="231851"/>
                  </a:cubicBezTo>
                  <a:lnTo>
                    <a:pt x="79163" y="231851"/>
                  </a:lnTo>
                  <a:cubicBezTo>
                    <a:pt x="58168" y="231851"/>
                    <a:pt x="38032" y="223511"/>
                    <a:pt x="23186" y="208665"/>
                  </a:cubicBezTo>
                  <a:cubicBezTo>
                    <a:pt x="8340" y="193819"/>
                    <a:pt x="0" y="173684"/>
                    <a:pt x="0" y="152689"/>
                  </a:cubicBezTo>
                  <a:lnTo>
                    <a:pt x="0" y="79163"/>
                  </a:lnTo>
                  <a:cubicBezTo>
                    <a:pt x="0" y="58168"/>
                    <a:pt x="8340" y="38032"/>
                    <a:pt x="23186" y="23186"/>
                  </a:cubicBezTo>
                  <a:cubicBezTo>
                    <a:pt x="38032" y="8340"/>
                    <a:pt x="58168" y="0"/>
                    <a:pt x="79163" y="0"/>
                  </a:cubicBezTo>
                  <a:close/>
                </a:path>
              </a:pathLst>
            </a:custGeom>
            <a:gradFill rotWithShape="true">
              <a:gsLst>
                <a:gs pos="0">
                  <a:srgbClr val="2D8BBA">
                    <a:alpha val="100000"/>
                  </a:srgbClr>
                </a:gs>
                <a:gs pos="100000">
                  <a:srgbClr val="192385">
                    <a:alpha val="100000"/>
                  </a:srgbClr>
                </a:gs>
              </a:gsLst>
              <a:lin ang="0"/>
            </a:gradFill>
          </p:spPr>
        </p:sp>
        <p:sp>
          <p:nvSpPr>
            <p:cNvPr name="TextBox 9" id="9"/>
            <p:cNvSpPr txBox="true"/>
            <p:nvPr/>
          </p:nvSpPr>
          <p:spPr>
            <a:xfrm>
              <a:off x="0" y="-38100"/>
              <a:ext cx="1303966" cy="269951"/>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6300712" y="-1889926"/>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5879607" y="6830234"/>
            <a:ext cx="6528787" cy="770310"/>
          </a:xfrm>
          <a:prstGeom prst="rect">
            <a:avLst/>
          </a:prstGeom>
        </p:spPr>
        <p:txBody>
          <a:bodyPr anchor="t" rtlCol="false" tIns="0" lIns="0" bIns="0" rIns="0">
            <a:spAutoFit/>
          </a:bodyPr>
          <a:lstStyle/>
          <a:p>
            <a:pPr algn="ctr">
              <a:lnSpc>
                <a:spcPts val="6366"/>
              </a:lnSpc>
            </a:pPr>
            <a:r>
              <a:rPr lang="en-US" b="true" sz="4547" spc="50">
                <a:solidFill>
                  <a:srgbClr val="FFFFFF"/>
                </a:solidFill>
                <a:latin typeface="Krub Bold"/>
                <a:ea typeface="Krub Bold"/>
                <a:cs typeface="Krub Bold"/>
                <a:sym typeface="Krub Bold"/>
              </a:rPr>
              <a:t>Presentation</a:t>
            </a:r>
          </a:p>
        </p:txBody>
      </p:sp>
      <p:sp>
        <p:nvSpPr>
          <p:cNvPr name="Freeform 12" id="12"/>
          <p:cNvSpPr/>
          <p:nvPr/>
        </p:nvSpPr>
        <p:spPr>
          <a:xfrm flipH="false" flipV="false" rot="-10321493">
            <a:off x="6300712" y="8352127"/>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3693373" y="1488266"/>
            <a:ext cx="7131854" cy="9334888"/>
          </a:xfrm>
          <a:custGeom>
            <a:avLst/>
            <a:gdLst/>
            <a:ahLst/>
            <a:cxnLst/>
            <a:rect r="r" b="b" t="t" l="l"/>
            <a:pathLst>
              <a:path h="9334888" w="7131854">
                <a:moveTo>
                  <a:pt x="0" y="0"/>
                </a:moveTo>
                <a:lnTo>
                  <a:pt x="7131854" y="0"/>
                </a:lnTo>
                <a:lnTo>
                  <a:pt x="7131854" y="9334888"/>
                </a:lnTo>
                <a:lnTo>
                  <a:pt x="0" y="93348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657888" y="2999219"/>
            <a:ext cx="5221904" cy="735036"/>
            <a:chOff x="0" y="0"/>
            <a:chExt cx="1375316" cy="193590"/>
          </a:xfrm>
        </p:grpSpPr>
        <p:sp>
          <p:nvSpPr>
            <p:cNvPr name="Freeform 4" id="4"/>
            <p:cNvSpPr/>
            <p:nvPr/>
          </p:nvSpPr>
          <p:spPr>
            <a:xfrm flipH="false" flipV="false" rot="0">
              <a:off x="0" y="0"/>
              <a:ext cx="1375316" cy="193590"/>
            </a:xfrm>
            <a:custGeom>
              <a:avLst/>
              <a:gdLst/>
              <a:ahLst/>
              <a:cxnLst/>
              <a:rect r="r" b="b" t="t" l="l"/>
              <a:pathLst>
                <a:path h="193590" w="1375316">
                  <a:moveTo>
                    <a:pt x="75056" y="0"/>
                  </a:moveTo>
                  <a:lnTo>
                    <a:pt x="1300261" y="0"/>
                  </a:lnTo>
                  <a:cubicBezTo>
                    <a:pt x="1320167" y="0"/>
                    <a:pt x="1339257" y="7908"/>
                    <a:pt x="1353333" y="21983"/>
                  </a:cubicBezTo>
                  <a:cubicBezTo>
                    <a:pt x="1367409" y="36059"/>
                    <a:pt x="1375316" y="55150"/>
                    <a:pt x="1375316" y="75056"/>
                  </a:cubicBezTo>
                  <a:lnTo>
                    <a:pt x="1375316" y="118534"/>
                  </a:lnTo>
                  <a:cubicBezTo>
                    <a:pt x="1375316" y="138440"/>
                    <a:pt x="1367409" y="157531"/>
                    <a:pt x="1353333" y="171606"/>
                  </a:cubicBezTo>
                  <a:cubicBezTo>
                    <a:pt x="1339257" y="185682"/>
                    <a:pt x="1320167" y="193590"/>
                    <a:pt x="1300261" y="193590"/>
                  </a:cubicBezTo>
                  <a:lnTo>
                    <a:pt x="75056" y="193590"/>
                  </a:lnTo>
                  <a:cubicBezTo>
                    <a:pt x="55150" y="193590"/>
                    <a:pt x="36059" y="185682"/>
                    <a:pt x="21983" y="171606"/>
                  </a:cubicBezTo>
                  <a:cubicBezTo>
                    <a:pt x="7908" y="157531"/>
                    <a:pt x="0" y="138440"/>
                    <a:pt x="0" y="118534"/>
                  </a:cubicBezTo>
                  <a:lnTo>
                    <a:pt x="0" y="75056"/>
                  </a:lnTo>
                  <a:cubicBezTo>
                    <a:pt x="0" y="55150"/>
                    <a:pt x="7908" y="36059"/>
                    <a:pt x="21983" y="21983"/>
                  </a:cubicBezTo>
                  <a:cubicBezTo>
                    <a:pt x="36059" y="7908"/>
                    <a:pt x="55150" y="0"/>
                    <a:pt x="75056" y="0"/>
                  </a:cubicBezTo>
                  <a:close/>
                </a:path>
              </a:pathLst>
            </a:custGeom>
            <a:gradFill rotWithShape="true">
              <a:gsLst>
                <a:gs pos="0">
                  <a:srgbClr val="2D8BBA">
                    <a:alpha val="100000"/>
                  </a:srgbClr>
                </a:gs>
                <a:gs pos="100000">
                  <a:srgbClr val="192385">
                    <a:alpha val="100000"/>
                  </a:srgbClr>
                </a:gs>
              </a:gsLst>
              <a:lin ang="0"/>
            </a:gradFill>
          </p:spPr>
        </p:sp>
        <p:sp>
          <p:nvSpPr>
            <p:cNvPr name="TextBox 5" id="5"/>
            <p:cNvSpPr txBox="true"/>
            <p:nvPr/>
          </p:nvSpPr>
          <p:spPr>
            <a:xfrm>
              <a:off x="0" y="-38100"/>
              <a:ext cx="1375316" cy="23169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5216" y="2658129"/>
            <a:ext cx="5750433" cy="8229600"/>
          </a:xfrm>
          <a:custGeom>
            <a:avLst/>
            <a:gdLst/>
            <a:ahLst/>
            <a:cxnLst/>
            <a:rect r="r" b="b" t="t" l="l"/>
            <a:pathLst>
              <a:path h="8229600" w="5750433">
                <a:moveTo>
                  <a:pt x="0" y="0"/>
                </a:moveTo>
                <a:lnTo>
                  <a:pt x="5750432" y="0"/>
                </a:lnTo>
                <a:lnTo>
                  <a:pt x="5750432" y="8229600"/>
                </a:lnTo>
                <a:lnTo>
                  <a:pt x="0" y="8229600"/>
                </a:lnTo>
                <a:lnTo>
                  <a:pt x="0" y="0"/>
                </a:lnTo>
                <a:close/>
              </a:path>
            </a:pathLst>
          </a:custGeom>
          <a:blipFill>
            <a:blip r:embed="rId4"/>
            <a:stretch>
              <a:fillRect l="0" t="0" r="0" b="0"/>
            </a:stretch>
          </a:blipFill>
        </p:spPr>
      </p:sp>
      <p:sp>
        <p:nvSpPr>
          <p:cNvPr name="TextBox 7" id="7"/>
          <p:cNvSpPr txBox="true"/>
          <p:nvPr/>
        </p:nvSpPr>
        <p:spPr>
          <a:xfrm rot="0">
            <a:off x="5871030" y="1043267"/>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Our Team</a:t>
            </a:r>
          </a:p>
        </p:txBody>
      </p:sp>
      <p:sp>
        <p:nvSpPr>
          <p:cNvPr name="Freeform 8" id="8"/>
          <p:cNvSpPr/>
          <p:nvPr/>
        </p:nvSpPr>
        <p:spPr>
          <a:xfrm flipH="false" flipV="false" rot="-10321493">
            <a:off x="2112958" y="-1743408"/>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0321493">
            <a:off x="8078558" y="8016876"/>
            <a:ext cx="4420195" cy="4114800"/>
          </a:xfrm>
          <a:custGeom>
            <a:avLst/>
            <a:gdLst/>
            <a:ahLst/>
            <a:cxnLst/>
            <a:rect r="r" b="b" t="t" l="l"/>
            <a:pathLst>
              <a:path h="4114800" w="4420195">
                <a:moveTo>
                  <a:pt x="0" y="0"/>
                </a:moveTo>
                <a:lnTo>
                  <a:pt x="4420196" y="0"/>
                </a:lnTo>
                <a:lnTo>
                  <a:pt x="4420196" y="4114800"/>
                </a:lnTo>
                <a:lnTo>
                  <a:pt x="0" y="4114800"/>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3657888" y="5788192"/>
            <a:ext cx="5221904" cy="735036"/>
            <a:chOff x="0" y="0"/>
            <a:chExt cx="1375316" cy="193590"/>
          </a:xfrm>
        </p:grpSpPr>
        <p:sp>
          <p:nvSpPr>
            <p:cNvPr name="Freeform 11" id="11"/>
            <p:cNvSpPr/>
            <p:nvPr/>
          </p:nvSpPr>
          <p:spPr>
            <a:xfrm flipH="false" flipV="false" rot="0">
              <a:off x="0" y="0"/>
              <a:ext cx="1375316" cy="193590"/>
            </a:xfrm>
            <a:custGeom>
              <a:avLst/>
              <a:gdLst/>
              <a:ahLst/>
              <a:cxnLst/>
              <a:rect r="r" b="b" t="t" l="l"/>
              <a:pathLst>
                <a:path h="193590" w="1375316">
                  <a:moveTo>
                    <a:pt x="75056" y="0"/>
                  </a:moveTo>
                  <a:lnTo>
                    <a:pt x="1300261" y="0"/>
                  </a:lnTo>
                  <a:cubicBezTo>
                    <a:pt x="1320167" y="0"/>
                    <a:pt x="1339257" y="7908"/>
                    <a:pt x="1353333" y="21983"/>
                  </a:cubicBezTo>
                  <a:cubicBezTo>
                    <a:pt x="1367409" y="36059"/>
                    <a:pt x="1375316" y="55150"/>
                    <a:pt x="1375316" y="75056"/>
                  </a:cubicBezTo>
                  <a:lnTo>
                    <a:pt x="1375316" y="118534"/>
                  </a:lnTo>
                  <a:cubicBezTo>
                    <a:pt x="1375316" y="138440"/>
                    <a:pt x="1367409" y="157531"/>
                    <a:pt x="1353333" y="171606"/>
                  </a:cubicBezTo>
                  <a:cubicBezTo>
                    <a:pt x="1339257" y="185682"/>
                    <a:pt x="1320167" y="193590"/>
                    <a:pt x="1300261" y="193590"/>
                  </a:cubicBezTo>
                  <a:lnTo>
                    <a:pt x="75056" y="193590"/>
                  </a:lnTo>
                  <a:cubicBezTo>
                    <a:pt x="55150" y="193590"/>
                    <a:pt x="36059" y="185682"/>
                    <a:pt x="21983" y="171606"/>
                  </a:cubicBezTo>
                  <a:cubicBezTo>
                    <a:pt x="7908" y="157531"/>
                    <a:pt x="0" y="138440"/>
                    <a:pt x="0" y="118534"/>
                  </a:cubicBezTo>
                  <a:lnTo>
                    <a:pt x="0" y="75056"/>
                  </a:lnTo>
                  <a:cubicBezTo>
                    <a:pt x="0" y="55150"/>
                    <a:pt x="7908" y="36059"/>
                    <a:pt x="21983" y="21983"/>
                  </a:cubicBezTo>
                  <a:cubicBezTo>
                    <a:pt x="36059" y="7908"/>
                    <a:pt x="55150" y="0"/>
                    <a:pt x="75056" y="0"/>
                  </a:cubicBezTo>
                  <a:close/>
                </a:path>
              </a:pathLst>
            </a:custGeom>
            <a:gradFill rotWithShape="true">
              <a:gsLst>
                <a:gs pos="0">
                  <a:srgbClr val="2D8BBA">
                    <a:alpha val="100000"/>
                  </a:srgbClr>
                </a:gs>
                <a:gs pos="100000">
                  <a:srgbClr val="192385">
                    <a:alpha val="100000"/>
                  </a:srgbClr>
                </a:gs>
              </a:gsLst>
              <a:lin ang="0"/>
            </a:gradFill>
          </p:spPr>
        </p:sp>
        <p:sp>
          <p:nvSpPr>
            <p:cNvPr name="TextBox 12" id="12"/>
            <p:cNvSpPr txBox="true"/>
            <p:nvPr/>
          </p:nvSpPr>
          <p:spPr>
            <a:xfrm>
              <a:off x="0" y="-38100"/>
              <a:ext cx="1375316" cy="23169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9144000" y="7362621"/>
            <a:ext cx="5221904" cy="735036"/>
            <a:chOff x="0" y="0"/>
            <a:chExt cx="1375316" cy="193590"/>
          </a:xfrm>
        </p:grpSpPr>
        <p:sp>
          <p:nvSpPr>
            <p:cNvPr name="Freeform 14" id="14"/>
            <p:cNvSpPr/>
            <p:nvPr/>
          </p:nvSpPr>
          <p:spPr>
            <a:xfrm flipH="false" flipV="false" rot="0">
              <a:off x="0" y="0"/>
              <a:ext cx="1375316" cy="193590"/>
            </a:xfrm>
            <a:custGeom>
              <a:avLst/>
              <a:gdLst/>
              <a:ahLst/>
              <a:cxnLst/>
              <a:rect r="r" b="b" t="t" l="l"/>
              <a:pathLst>
                <a:path h="193590" w="1375316">
                  <a:moveTo>
                    <a:pt x="75056" y="0"/>
                  </a:moveTo>
                  <a:lnTo>
                    <a:pt x="1300261" y="0"/>
                  </a:lnTo>
                  <a:cubicBezTo>
                    <a:pt x="1320167" y="0"/>
                    <a:pt x="1339257" y="7908"/>
                    <a:pt x="1353333" y="21983"/>
                  </a:cubicBezTo>
                  <a:cubicBezTo>
                    <a:pt x="1367409" y="36059"/>
                    <a:pt x="1375316" y="55150"/>
                    <a:pt x="1375316" y="75056"/>
                  </a:cubicBezTo>
                  <a:lnTo>
                    <a:pt x="1375316" y="118534"/>
                  </a:lnTo>
                  <a:cubicBezTo>
                    <a:pt x="1375316" y="138440"/>
                    <a:pt x="1367409" y="157531"/>
                    <a:pt x="1353333" y="171606"/>
                  </a:cubicBezTo>
                  <a:cubicBezTo>
                    <a:pt x="1339257" y="185682"/>
                    <a:pt x="1320167" y="193590"/>
                    <a:pt x="1300261" y="193590"/>
                  </a:cubicBezTo>
                  <a:lnTo>
                    <a:pt x="75056" y="193590"/>
                  </a:lnTo>
                  <a:cubicBezTo>
                    <a:pt x="55150" y="193590"/>
                    <a:pt x="36059" y="185682"/>
                    <a:pt x="21983" y="171606"/>
                  </a:cubicBezTo>
                  <a:cubicBezTo>
                    <a:pt x="7908" y="157531"/>
                    <a:pt x="0" y="138440"/>
                    <a:pt x="0" y="118534"/>
                  </a:cubicBezTo>
                  <a:lnTo>
                    <a:pt x="0" y="75056"/>
                  </a:lnTo>
                  <a:cubicBezTo>
                    <a:pt x="0" y="55150"/>
                    <a:pt x="7908" y="36059"/>
                    <a:pt x="21983" y="21983"/>
                  </a:cubicBezTo>
                  <a:cubicBezTo>
                    <a:pt x="36059" y="7908"/>
                    <a:pt x="55150" y="0"/>
                    <a:pt x="75056" y="0"/>
                  </a:cubicBezTo>
                  <a:close/>
                </a:path>
              </a:pathLst>
            </a:custGeom>
            <a:gradFill rotWithShape="true">
              <a:gsLst>
                <a:gs pos="0">
                  <a:srgbClr val="2D8BBA">
                    <a:alpha val="100000"/>
                  </a:srgbClr>
                </a:gs>
                <a:gs pos="100000">
                  <a:srgbClr val="192385">
                    <a:alpha val="100000"/>
                  </a:srgbClr>
                </a:gs>
              </a:gsLst>
              <a:lin ang="0"/>
            </a:gradFill>
          </p:spPr>
        </p:sp>
        <p:sp>
          <p:nvSpPr>
            <p:cNvPr name="TextBox 15" id="15"/>
            <p:cNvSpPr txBox="true"/>
            <p:nvPr/>
          </p:nvSpPr>
          <p:spPr>
            <a:xfrm>
              <a:off x="0" y="-38100"/>
              <a:ext cx="1375316" cy="23169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9453504" y="4099228"/>
            <a:ext cx="5221904" cy="735036"/>
            <a:chOff x="0" y="0"/>
            <a:chExt cx="1375316" cy="193590"/>
          </a:xfrm>
        </p:grpSpPr>
        <p:sp>
          <p:nvSpPr>
            <p:cNvPr name="Freeform 17" id="17"/>
            <p:cNvSpPr/>
            <p:nvPr/>
          </p:nvSpPr>
          <p:spPr>
            <a:xfrm flipH="false" flipV="false" rot="0">
              <a:off x="0" y="0"/>
              <a:ext cx="1375316" cy="193590"/>
            </a:xfrm>
            <a:custGeom>
              <a:avLst/>
              <a:gdLst/>
              <a:ahLst/>
              <a:cxnLst/>
              <a:rect r="r" b="b" t="t" l="l"/>
              <a:pathLst>
                <a:path h="193590" w="1375316">
                  <a:moveTo>
                    <a:pt x="75056" y="0"/>
                  </a:moveTo>
                  <a:lnTo>
                    <a:pt x="1300261" y="0"/>
                  </a:lnTo>
                  <a:cubicBezTo>
                    <a:pt x="1320167" y="0"/>
                    <a:pt x="1339257" y="7908"/>
                    <a:pt x="1353333" y="21983"/>
                  </a:cubicBezTo>
                  <a:cubicBezTo>
                    <a:pt x="1367409" y="36059"/>
                    <a:pt x="1375316" y="55150"/>
                    <a:pt x="1375316" y="75056"/>
                  </a:cubicBezTo>
                  <a:lnTo>
                    <a:pt x="1375316" y="118534"/>
                  </a:lnTo>
                  <a:cubicBezTo>
                    <a:pt x="1375316" y="138440"/>
                    <a:pt x="1367409" y="157531"/>
                    <a:pt x="1353333" y="171606"/>
                  </a:cubicBezTo>
                  <a:cubicBezTo>
                    <a:pt x="1339257" y="185682"/>
                    <a:pt x="1320167" y="193590"/>
                    <a:pt x="1300261" y="193590"/>
                  </a:cubicBezTo>
                  <a:lnTo>
                    <a:pt x="75056" y="193590"/>
                  </a:lnTo>
                  <a:cubicBezTo>
                    <a:pt x="55150" y="193590"/>
                    <a:pt x="36059" y="185682"/>
                    <a:pt x="21983" y="171606"/>
                  </a:cubicBezTo>
                  <a:cubicBezTo>
                    <a:pt x="7908" y="157531"/>
                    <a:pt x="0" y="138440"/>
                    <a:pt x="0" y="118534"/>
                  </a:cubicBezTo>
                  <a:lnTo>
                    <a:pt x="0" y="75056"/>
                  </a:lnTo>
                  <a:cubicBezTo>
                    <a:pt x="0" y="55150"/>
                    <a:pt x="7908" y="36059"/>
                    <a:pt x="21983" y="21983"/>
                  </a:cubicBezTo>
                  <a:cubicBezTo>
                    <a:pt x="36059" y="7908"/>
                    <a:pt x="55150" y="0"/>
                    <a:pt x="75056" y="0"/>
                  </a:cubicBezTo>
                  <a:close/>
                </a:path>
              </a:pathLst>
            </a:custGeom>
            <a:gradFill rotWithShape="true">
              <a:gsLst>
                <a:gs pos="0">
                  <a:srgbClr val="2D8BBA">
                    <a:alpha val="100000"/>
                  </a:srgbClr>
                </a:gs>
                <a:gs pos="100000">
                  <a:srgbClr val="192385">
                    <a:alpha val="100000"/>
                  </a:srgbClr>
                </a:gs>
              </a:gsLst>
              <a:lin ang="0"/>
            </a:gradFill>
          </p:spPr>
        </p:sp>
        <p:sp>
          <p:nvSpPr>
            <p:cNvPr name="TextBox 18" id="18"/>
            <p:cNvSpPr txBox="true"/>
            <p:nvPr/>
          </p:nvSpPr>
          <p:spPr>
            <a:xfrm>
              <a:off x="0" y="-38100"/>
              <a:ext cx="1375316" cy="23169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9620552" y="4130375"/>
            <a:ext cx="4745353" cy="703889"/>
          </a:xfrm>
          <a:prstGeom prst="rect">
            <a:avLst/>
          </a:prstGeom>
        </p:spPr>
        <p:txBody>
          <a:bodyPr anchor="t" rtlCol="false" tIns="0" lIns="0" bIns="0" rIns="0">
            <a:spAutoFit/>
          </a:bodyPr>
          <a:lstStyle/>
          <a:p>
            <a:pPr algn="ctr">
              <a:lnSpc>
                <a:spcPts val="5786"/>
              </a:lnSpc>
            </a:pPr>
            <a:r>
              <a:rPr lang="en-US" sz="4132" spc="45">
                <a:solidFill>
                  <a:srgbClr val="FFFFFF"/>
                </a:solidFill>
                <a:latin typeface="Krub"/>
                <a:ea typeface="Krub"/>
                <a:cs typeface="Krub"/>
                <a:sym typeface="Krub"/>
              </a:rPr>
              <a:t>Borkati Halawa</a:t>
            </a:r>
          </a:p>
        </p:txBody>
      </p:sp>
      <p:sp>
        <p:nvSpPr>
          <p:cNvPr name="TextBox 20" id="20"/>
          <p:cNvSpPr txBox="true"/>
          <p:nvPr/>
        </p:nvSpPr>
        <p:spPr>
          <a:xfrm rot="0">
            <a:off x="3896164" y="2976693"/>
            <a:ext cx="4745353" cy="703889"/>
          </a:xfrm>
          <a:prstGeom prst="rect">
            <a:avLst/>
          </a:prstGeom>
        </p:spPr>
        <p:txBody>
          <a:bodyPr anchor="t" rtlCol="false" tIns="0" lIns="0" bIns="0" rIns="0">
            <a:spAutoFit/>
          </a:bodyPr>
          <a:lstStyle/>
          <a:p>
            <a:pPr algn="ctr">
              <a:lnSpc>
                <a:spcPts val="5786"/>
              </a:lnSpc>
            </a:pPr>
            <a:r>
              <a:rPr lang="en-US" sz="4132" spc="45">
                <a:solidFill>
                  <a:srgbClr val="FFFFFF"/>
                </a:solidFill>
                <a:latin typeface="Krub"/>
                <a:ea typeface="Krub"/>
                <a:cs typeface="Krub"/>
                <a:sym typeface="Krub"/>
              </a:rPr>
              <a:t>Syifa Alya Anisah</a:t>
            </a:r>
          </a:p>
        </p:txBody>
      </p:sp>
      <p:sp>
        <p:nvSpPr>
          <p:cNvPr name="TextBox 21" id="21"/>
          <p:cNvSpPr txBox="true"/>
          <p:nvPr/>
        </p:nvSpPr>
        <p:spPr>
          <a:xfrm rot="0">
            <a:off x="3657888" y="5711992"/>
            <a:ext cx="4745353" cy="703889"/>
          </a:xfrm>
          <a:prstGeom prst="rect">
            <a:avLst/>
          </a:prstGeom>
        </p:spPr>
        <p:txBody>
          <a:bodyPr anchor="t" rtlCol="false" tIns="0" lIns="0" bIns="0" rIns="0">
            <a:spAutoFit/>
          </a:bodyPr>
          <a:lstStyle/>
          <a:p>
            <a:pPr algn="ctr">
              <a:lnSpc>
                <a:spcPts val="5786"/>
              </a:lnSpc>
            </a:pPr>
            <a:r>
              <a:rPr lang="en-US" sz="4132" spc="45">
                <a:solidFill>
                  <a:srgbClr val="FFFFFF"/>
                </a:solidFill>
                <a:latin typeface="Krub"/>
                <a:ea typeface="Krub"/>
                <a:cs typeface="Krub"/>
                <a:sym typeface="Krub"/>
              </a:rPr>
              <a:t>Refani Purba</a:t>
            </a:r>
          </a:p>
        </p:txBody>
      </p:sp>
      <p:sp>
        <p:nvSpPr>
          <p:cNvPr name="TextBox 22" id="22"/>
          <p:cNvSpPr txBox="true"/>
          <p:nvPr/>
        </p:nvSpPr>
        <p:spPr>
          <a:xfrm rot="0">
            <a:off x="9382276" y="7286421"/>
            <a:ext cx="4745353" cy="703889"/>
          </a:xfrm>
          <a:prstGeom prst="rect">
            <a:avLst/>
          </a:prstGeom>
        </p:spPr>
        <p:txBody>
          <a:bodyPr anchor="t" rtlCol="false" tIns="0" lIns="0" bIns="0" rIns="0">
            <a:spAutoFit/>
          </a:bodyPr>
          <a:lstStyle/>
          <a:p>
            <a:pPr algn="ctr">
              <a:lnSpc>
                <a:spcPts val="5786"/>
              </a:lnSpc>
            </a:pPr>
            <a:r>
              <a:rPr lang="en-US" sz="4132" spc="45">
                <a:solidFill>
                  <a:srgbClr val="FFFFFF"/>
                </a:solidFill>
                <a:latin typeface="Krub"/>
                <a:ea typeface="Krub"/>
                <a:cs typeface="Krub"/>
                <a:sym typeface="Krub"/>
              </a:rPr>
              <a:t>Nabila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885241" y="1042209"/>
            <a:ext cx="10517519"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Latar Belakang</a:t>
            </a:r>
          </a:p>
        </p:txBody>
      </p:sp>
      <p:sp>
        <p:nvSpPr>
          <p:cNvPr name="Freeform 3" id="3"/>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2"/>
            <a:stretch>
              <a:fillRect l="0" t="0" r="0" b="0"/>
            </a:stretch>
          </a:blipFill>
        </p:spPr>
      </p:sp>
      <p:grpSp>
        <p:nvGrpSpPr>
          <p:cNvPr name="Group 4" id="4"/>
          <p:cNvGrpSpPr/>
          <p:nvPr/>
        </p:nvGrpSpPr>
        <p:grpSpPr>
          <a:xfrm rot="0">
            <a:off x="2367459" y="2710917"/>
            <a:ext cx="13942212" cy="5614572"/>
            <a:chOff x="0" y="0"/>
            <a:chExt cx="3672023" cy="1478735"/>
          </a:xfrm>
        </p:grpSpPr>
        <p:sp>
          <p:nvSpPr>
            <p:cNvPr name="Freeform 5" id="5"/>
            <p:cNvSpPr/>
            <p:nvPr/>
          </p:nvSpPr>
          <p:spPr>
            <a:xfrm flipH="false" flipV="false" rot="0">
              <a:off x="0" y="0"/>
              <a:ext cx="3672023" cy="1478735"/>
            </a:xfrm>
            <a:custGeom>
              <a:avLst/>
              <a:gdLst/>
              <a:ahLst/>
              <a:cxnLst/>
              <a:rect r="r" b="b" t="t" l="l"/>
              <a:pathLst>
                <a:path h="1478735" w="3672023">
                  <a:moveTo>
                    <a:pt x="28111" y="0"/>
                  </a:moveTo>
                  <a:lnTo>
                    <a:pt x="3643911" y="0"/>
                  </a:lnTo>
                  <a:cubicBezTo>
                    <a:pt x="3659437" y="0"/>
                    <a:pt x="3672023" y="12586"/>
                    <a:pt x="3672023" y="28111"/>
                  </a:cubicBezTo>
                  <a:lnTo>
                    <a:pt x="3672023" y="1450624"/>
                  </a:lnTo>
                  <a:cubicBezTo>
                    <a:pt x="3672023" y="1458079"/>
                    <a:pt x="3669061" y="1465229"/>
                    <a:pt x="3663789" y="1470501"/>
                  </a:cubicBezTo>
                  <a:cubicBezTo>
                    <a:pt x="3658517" y="1475773"/>
                    <a:pt x="3651367" y="1478735"/>
                    <a:pt x="3643911" y="1478735"/>
                  </a:cubicBezTo>
                  <a:lnTo>
                    <a:pt x="28111" y="1478735"/>
                  </a:lnTo>
                  <a:cubicBezTo>
                    <a:pt x="20656" y="1478735"/>
                    <a:pt x="13506" y="1475773"/>
                    <a:pt x="8234" y="1470501"/>
                  </a:cubicBezTo>
                  <a:cubicBezTo>
                    <a:pt x="2962" y="1465229"/>
                    <a:pt x="0" y="1458079"/>
                    <a:pt x="0" y="1450624"/>
                  </a:cubicBezTo>
                  <a:lnTo>
                    <a:pt x="0" y="28111"/>
                  </a:lnTo>
                  <a:cubicBezTo>
                    <a:pt x="0" y="20656"/>
                    <a:pt x="2962" y="13506"/>
                    <a:pt x="8234" y="8234"/>
                  </a:cubicBezTo>
                  <a:cubicBezTo>
                    <a:pt x="13506" y="2962"/>
                    <a:pt x="20656" y="0"/>
                    <a:pt x="28111" y="0"/>
                  </a:cubicBezTo>
                  <a:close/>
                </a:path>
              </a:pathLst>
            </a:custGeom>
            <a:solidFill>
              <a:srgbClr val="FFFFFF"/>
            </a:solidFill>
            <a:ln w="38100" cap="rnd">
              <a:gradFill>
                <a:gsLst>
                  <a:gs pos="0">
                    <a:srgbClr val="192385">
                      <a:alpha val="100000"/>
                    </a:srgbClr>
                  </a:gs>
                  <a:gs pos="100000">
                    <a:srgbClr val="2D8BBA">
                      <a:alpha val="100000"/>
                    </a:srgbClr>
                  </a:gs>
                </a:gsLst>
                <a:lin ang="5400000"/>
              </a:gradFill>
              <a:prstDash val="solid"/>
              <a:round/>
            </a:ln>
          </p:spPr>
        </p:sp>
        <p:sp>
          <p:nvSpPr>
            <p:cNvPr name="TextBox 6" id="6"/>
            <p:cNvSpPr txBox="true"/>
            <p:nvPr/>
          </p:nvSpPr>
          <p:spPr>
            <a:xfrm>
              <a:off x="0" y="-38100"/>
              <a:ext cx="3672023" cy="151683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752545" y="3167909"/>
            <a:ext cx="9700018" cy="4662488"/>
          </a:xfrm>
          <a:prstGeom prst="rect">
            <a:avLst/>
          </a:prstGeom>
        </p:spPr>
        <p:txBody>
          <a:bodyPr anchor="t" rtlCol="false" tIns="0" lIns="0" bIns="0" rIns="0">
            <a:spAutoFit/>
          </a:bodyPr>
          <a:lstStyle/>
          <a:p>
            <a:pPr algn="l">
              <a:lnSpc>
                <a:spcPts val="3377"/>
              </a:lnSpc>
            </a:pPr>
          </a:p>
          <a:p>
            <a:pPr algn="l" marL="520801" indent="-260400" lvl="1">
              <a:lnSpc>
                <a:spcPts val="3377"/>
              </a:lnSpc>
              <a:buFont typeface="Arial"/>
              <a:buChar char="•"/>
            </a:pPr>
            <a:r>
              <a:rPr lang="en-US" sz="2412" spc="26">
                <a:solidFill>
                  <a:srgbClr val="090147"/>
                </a:solidFill>
                <a:latin typeface="Krub"/>
                <a:ea typeface="Krub"/>
                <a:cs typeface="Krub"/>
                <a:sym typeface="Krub"/>
              </a:rPr>
              <a:t>Pengelolaan data NIM membutuhkan proses sorting dan searching yang efisien.</a:t>
            </a:r>
          </a:p>
          <a:p>
            <a:pPr algn="l" marL="520801" indent="-260400" lvl="1">
              <a:lnSpc>
                <a:spcPts val="3377"/>
              </a:lnSpc>
              <a:buFont typeface="Arial"/>
              <a:buChar char="•"/>
            </a:pPr>
            <a:r>
              <a:rPr lang="en-US" sz="2412" spc="26">
                <a:solidFill>
                  <a:srgbClr val="090147"/>
                </a:solidFill>
                <a:latin typeface="Krub"/>
                <a:ea typeface="Krub"/>
                <a:cs typeface="Krub"/>
                <a:sym typeface="Krub"/>
              </a:rPr>
              <a:t>Bubble Sort kurang optimal untuk data dalam jumlah besar.</a:t>
            </a:r>
          </a:p>
          <a:p>
            <a:pPr algn="l" marL="520801" indent="-260400" lvl="1">
              <a:lnSpc>
                <a:spcPts val="3377"/>
              </a:lnSpc>
              <a:buFont typeface="Arial"/>
              <a:buChar char="•"/>
            </a:pPr>
            <a:r>
              <a:rPr lang="en-US" sz="2412" spc="26">
                <a:solidFill>
                  <a:srgbClr val="090147"/>
                </a:solidFill>
                <a:latin typeface="Krub"/>
                <a:ea typeface="Krub"/>
                <a:cs typeface="Krub"/>
                <a:sym typeface="Krub"/>
              </a:rPr>
              <a:t>Radix Sort (LSD dan MSD) digunakan untuk mengurutkan data NIM berdasarkan digit angka.</a:t>
            </a:r>
          </a:p>
          <a:p>
            <a:pPr algn="l" marL="520801" indent="-260400" lvl="1">
              <a:lnSpc>
                <a:spcPts val="3377"/>
              </a:lnSpc>
              <a:buFont typeface="Arial"/>
              <a:buChar char="•"/>
            </a:pPr>
            <a:r>
              <a:rPr lang="en-US" sz="2412" spc="26">
                <a:solidFill>
                  <a:srgbClr val="090147"/>
                </a:solidFill>
                <a:latin typeface="Krub"/>
                <a:ea typeface="Krub"/>
                <a:cs typeface="Krub"/>
                <a:sym typeface="Krub"/>
              </a:rPr>
              <a:t>Ternary Search digunakan untuk mempercepat pencarian pada data yang sudah terurut.</a:t>
            </a:r>
          </a:p>
          <a:p>
            <a:pPr algn="l" marL="520801" indent="-260400" lvl="1">
              <a:lnSpc>
                <a:spcPts val="3377"/>
              </a:lnSpc>
              <a:buFont typeface="Arial"/>
              <a:buChar char="•"/>
            </a:pPr>
            <a:r>
              <a:rPr lang="en-US" sz="2412" spc="26">
                <a:solidFill>
                  <a:srgbClr val="090147"/>
                </a:solidFill>
                <a:latin typeface="Krub"/>
                <a:ea typeface="Krub"/>
                <a:cs typeface="Krub"/>
                <a:sym typeface="Krub"/>
              </a:rPr>
              <a:t>Penelitian bertujuan menganalisis efektivitas dan efisiensi algoritma tersebut dalam pengolahan data mahasiswa.</a:t>
            </a:r>
          </a:p>
          <a:p>
            <a:pPr algn="l">
              <a:lnSpc>
                <a:spcPts val="3377"/>
              </a:lnSpc>
            </a:pPr>
          </a:p>
        </p:txBody>
      </p:sp>
      <p:sp>
        <p:nvSpPr>
          <p:cNvPr name="Freeform 10" id="10"/>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grpSp>
        <p:nvGrpSpPr>
          <p:cNvPr name="Group 2" id="2"/>
          <p:cNvGrpSpPr/>
          <p:nvPr/>
        </p:nvGrpSpPr>
        <p:grpSpPr>
          <a:xfrm rot="0">
            <a:off x="1461917" y="2710917"/>
            <a:ext cx="11860784" cy="5518683"/>
            <a:chOff x="0" y="0"/>
            <a:chExt cx="3123828" cy="1453480"/>
          </a:xfrm>
        </p:grpSpPr>
        <p:sp>
          <p:nvSpPr>
            <p:cNvPr name="Freeform 3" id="3"/>
            <p:cNvSpPr/>
            <p:nvPr/>
          </p:nvSpPr>
          <p:spPr>
            <a:xfrm flipH="false" flipV="false" rot="0">
              <a:off x="0" y="0"/>
              <a:ext cx="3123828" cy="1453480"/>
            </a:xfrm>
            <a:custGeom>
              <a:avLst/>
              <a:gdLst/>
              <a:ahLst/>
              <a:cxnLst/>
              <a:rect r="r" b="b" t="t" l="l"/>
              <a:pathLst>
                <a:path h="1453480" w="3123828">
                  <a:moveTo>
                    <a:pt x="33045" y="0"/>
                  </a:moveTo>
                  <a:lnTo>
                    <a:pt x="3090783" y="0"/>
                  </a:lnTo>
                  <a:cubicBezTo>
                    <a:pt x="3099547" y="0"/>
                    <a:pt x="3107952" y="3481"/>
                    <a:pt x="3114149" y="9679"/>
                  </a:cubicBezTo>
                  <a:cubicBezTo>
                    <a:pt x="3120346" y="15876"/>
                    <a:pt x="3123828" y="24281"/>
                    <a:pt x="3123828" y="33045"/>
                  </a:cubicBezTo>
                  <a:lnTo>
                    <a:pt x="3123828" y="1420436"/>
                  </a:lnTo>
                  <a:cubicBezTo>
                    <a:pt x="3123828" y="1429200"/>
                    <a:pt x="3120346" y="1437605"/>
                    <a:pt x="3114149" y="1443802"/>
                  </a:cubicBezTo>
                  <a:cubicBezTo>
                    <a:pt x="3107952" y="1449999"/>
                    <a:pt x="3099547" y="1453480"/>
                    <a:pt x="3090783" y="1453480"/>
                  </a:cubicBezTo>
                  <a:lnTo>
                    <a:pt x="33045" y="1453480"/>
                  </a:lnTo>
                  <a:cubicBezTo>
                    <a:pt x="24281" y="1453480"/>
                    <a:pt x="15876" y="1449999"/>
                    <a:pt x="9679" y="1443802"/>
                  </a:cubicBezTo>
                  <a:cubicBezTo>
                    <a:pt x="3481" y="1437605"/>
                    <a:pt x="0" y="1429200"/>
                    <a:pt x="0" y="1420436"/>
                  </a:cubicBezTo>
                  <a:lnTo>
                    <a:pt x="0" y="33045"/>
                  </a:lnTo>
                  <a:cubicBezTo>
                    <a:pt x="0" y="24281"/>
                    <a:pt x="3481" y="15876"/>
                    <a:pt x="9679" y="9679"/>
                  </a:cubicBezTo>
                  <a:cubicBezTo>
                    <a:pt x="15876" y="3481"/>
                    <a:pt x="24281" y="0"/>
                    <a:pt x="33045" y="0"/>
                  </a:cubicBezTo>
                  <a:close/>
                </a:path>
              </a:pathLst>
            </a:custGeom>
            <a:gradFill rotWithShape="true">
              <a:gsLst>
                <a:gs pos="0">
                  <a:srgbClr val="192385">
                    <a:alpha val="100000"/>
                  </a:srgbClr>
                </a:gs>
                <a:gs pos="100000">
                  <a:srgbClr val="2D8BBA">
                    <a:alpha val="100000"/>
                  </a:srgbClr>
                </a:gs>
              </a:gsLst>
              <a:lin ang="5400000"/>
            </a:gradFill>
          </p:spPr>
        </p:sp>
        <p:sp>
          <p:nvSpPr>
            <p:cNvPr name="TextBox 4" id="4"/>
            <p:cNvSpPr txBox="true"/>
            <p:nvPr/>
          </p:nvSpPr>
          <p:spPr>
            <a:xfrm>
              <a:off x="0" y="-38100"/>
              <a:ext cx="3123828" cy="149158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322701" y="2057400"/>
            <a:ext cx="4464558" cy="8229600"/>
          </a:xfrm>
          <a:custGeom>
            <a:avLst/>
            <a:gdLst/>
            <a:ahLst/>
            <a:cxnLst/>
            <a:rect r="r" b="b" t="t" l="l"/>
            <a:pathLst>
              <a:path h="8229600" w="4464558">
                <a:moveTo>
                  <a:pt x="0" y="0"/>
                </a:moveTo>
                <a:lnTo>
                  <a:pt x="4464558" y="0"/>
                </a:lnTo>
                <a:lnTo>
                  <a:pt x="4464558" y="8229600"/>
                </a:lnTo>
                <a:lnTo>
                  <a:pt x="0" y="8229600"/>
                </a:lnTo>
                <a:lnTo>
                  <a:pt x="0" y="0"/>
                </a:lnTo>
                <a:close/>
              </a:path>
            </a:pathLst>
          </a:custGeom>
          <a:blipFill>
            <a:blip r:embed="rId2"/>
            <a:stretch>
              <a:fillRect l="0" t="0" r="0" b="0"/>
            </a:stretch>
          </a:blipFill>
        </p:spPr>
      </p:sp>
      <p:sp>
        <p:nvSpPr>
          <p:cNvPr name="Freeform 6" id="6"/>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823157" y="781525"/>
            <a:ext cx="8641686"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LSD Sorting</a:t>
            </a:r>
          </a:p>
        </p:txBody>
      </p:sp>
      <p:sp>
        <p:nvSpPr>
          <p:cNvPr name="TextBox 9" id="9"/>
          <p:cNvSpPr txBox="true"/>
          <p:nvPr/>
        </p:nvSpPr>
        <p:spPr>
          <a:xfrm rot="0">
            <a:off x="1983545" y="3352480"/>
            <a:ext cx="9623367" cy="42069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LSD (Least Significant Digit) adalah metode pengurutan pada algoritma Radix Sort yang memproses data mulai dari digit yang memiliki nilai paling kecil atau paling kanan (digit satuan), kemudian bergerak ke digit yang lebih besar seperti puluhan, ratusan, ribuan, dan seterusnya.</a:t>
            </a:r>
          </a:p>
          <a:p>
            <a:pPr algn="l">
              <a:lnSpc>
                <a:spcPts val="2794"/>
              </a:lnSpc>
            </a:pPr>
            <a:r>
              <a:rPr lang="en-US" sz="1995" spc="21">
                <a:solidFill>
                  <a:srgbClr val="FFFFFF"/>
                </a:solidFill>
                <a:latin typeface="Krub"/>
                <a:ea typeface="Krub"/>
                <a:cs typeface="Krub"/>
                <a:sym typeface="Krub"/>
              </a:rPr>
              <a:t>Metode ini bekerja dengan cara mengurutkan angka berdasarkan setiap digit secara bertahap hingga seluruh digit selesai diproses. Setelah semua digit diproses, data akan berada dalam urutan yang benar.</a:t>
            </a:r>
          </a:p>
          <a:p>
            <a:pPr algn="l">
              <a:lnSpc>
                <a:spcPts val="2794"/>
              </a:lnSpc>
            </a:pPr>
            <a:r>
              <a:rPr lang="en-US" sz="1995" spc="21">
                <a:solidFill>
                  <a:srgbClr val="FFFFFF"/>
                </a:solidFill>
                <a:latin typeface="Krub"/>
                <a:ea typeface="Krub"/>
                <a:cs typeface="Krub"/>
                <a:sym typeface="Krub"/>
              </a:rPr>
              <a:t>LSD termasuk algoritma non-comparative sorting, artinya proses pengurutan tidak dilakukan dengan membandingkan dua elemen secara langsung seperti pada Bubble Sort atau Selection Sort, tetapi dengan mengelompokkan elemen berdasarkan nilai digitnya.</a:t>
            </a:r>
          </a:p>
          <a:p>
            <a:pPr algn="l">
              <a:lnSpc>
                <a:spcPts val="2794"/>
              </a:lnSpc>
            </a:pPr>
          </a:p>
        </p:txBody>
      </p:sp>
      <p:sp>
        <p:nvSpPr>
          <p:cNvPr name="Freeform 10" id="10"/>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1042209"/>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Cara Kerja</a:t>
            </a:r>
          </a:p>
        </p:txBody>
      </p:sp>
      <p:sp>
        <p:nvSpPr>
          <p:cNvPr name="Freeform 3" id="3"/>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6"/>
            <a:stretch>
              <a:fillRect l="0" t="0" r="0" b="0"/>
            </a:stretch>
          </a:blipFill>
        </p:spPr>
      </p:sp>
      <p:sp>
        <p:nvSpPr>
          <p:cNvPr name="Freeform 6" id="6"/>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grpSp>
        <p:nvGrpSpPr>
          <p:cNvPr name="Group 7" id="7"/>
          <p:cNvGrpSpPr/>
          <p:nvPr/>
        </p:nvGrpSpPr>
        <p:grpSpPr>
          <a:xfrm rot="0">
            <a:off x="3752545" y="2358403"/>
            <a:ext cx="10557157" cy="6090802"/>
            <a:chOff x="0" y="0"/>
            <a:chExt cx="2780486" cy="1604162"/>
          </a:xfrm>
        </p:grpSpPr>
        <p:sp>
          <p:nvSpPr>
            <p:cNvPr name="Freeform 8" id="8">
              <a:hlinkClick r:id="rId8" tooltip="https://canva.link/os1pjd66nikx7x1"/>
            </p:cNvPr>
            <p:cNvSpPr/>
            <p:nvPr/>
          </p:nvSpPr>
          <p:spPr>
            <a:xfrm flipH="false" flipV="false" rot="0">
              <a:off x="0" y="0"/>
              <a:ext cx="2780486" cy="1604162"/>
            </a:xfrm>
            <a:custGeom>
              <a:avLst/>
              <a:gdLst/>
              <a:ahLst/>
              <a:cxnLst/>
              <a:rect r="r" b="b" t="t" l="l"/>
              <a:pathLst>
                <a:path h="1604162" w="2780486">
                  <a:moveTo>
                    <a:pt x="37125" y="0"/>
                  </a:moveTo>
                  <a:lnTo>
                    <a:pt x="2743361" y="0"/>
                  </a:lnTo>
                  <a:cubicBezTo>
                    <a:pt x="2763864" y="0"/>
                    <a:pt x="2780486" y="16621"/>
                    <a:pt x="2780486" y="37125"/>
                  </a:cubicBezTo>
                  <a:lnTo>
                    <a:pt x="2780486" y="1567037"/>
                  </a:lnTo>
                  <a:cubicBezTo>
                    <a:pt x="2780486" y="1587540"/>
                    <a:pt x="2763864" y="1604162"/>
                    <a:pt x="2743361" y="1604162"/>
                  </a:cubicBezTo>
                  <a:lnTo>
                    <a:pt x="37125" y="1604162"/>
                  </a:lnTo>
                  <a:cubicBezTo>
                    <a:pt x="16621" y="1604162"/>
                    <a:pt x="0" y="1587540"/>
                    <a:pt x="0" y="1567037"/>
                  </a:cubicBezTo>
                  <a:lnTo>
                    <a:pt x="0" y="37125"/>
                  </a:lnTo>
                  <a:cubicBezTo>
                    <a:pt x="0" y="16621"/>
                    <a:pt x="16621" y="0"/>
                    <a:pt x="37125" y="0"/>
                  </a:cubicBezTo>
                  <a:close/>
                </a:path>
              </a:pathLst>
            </a:custGeom>
            <a:gradFill rotWithShape="true">
              <a:gsLst>
                <a:gs pos="0">
                  <a:srgbClr val="192385">
                    <a:alpha val="100000"/>
                  </a:srgbClr>
                </a:gs>
                <a:gs pos="100000">
                  <a:srgbClr val="2D8BBA">
                    <a:alpha val="100000"/>
                  </a:srgbClr>
                </a:gs>
              </a:gsLst>
              <a:lin ang="5400000"/>
            </a:gradFill>
          </p:spPr>
        </p:sp>
        <p:sp>
          <p:nvSpPr>
            <p:cNvPr name="TextBox 9" id="9"/>
            <p:cNvSpPr txBox="true"/>
            <p:nvPr/>
          </p:nvSpPr>
          <p:spPr>
            <a:xfrm>
              <a:off x="0" y="-38100"/>
              <a:ext cx="2780486" cy="164226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4251029" y="2941158"/>
            <a:ext cx="2000363" cy="27972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Data :</a:t>
            </a:r>
          </a:p>
          <a:p>
            <a:pPr algn="l">
              <a:lnSpc>
                <a:spcPts val="2794"/>
              </a:lnSpc>
            </a:pPr>
            <a:r>
              <a:rPr lang="en-US" sz="1995" spc="21">
                <a:solidFill>
                  <a:srgbClr val="FFFFFF"/>
                </a:solidFill>
                <a:latin typeface="Krub"/>
                <a:ea typeface="Krub"/>
                <a:cs typeface="Krub"/>
                <a:sym typeface="Krub"/>
              </a:rPr>
              <a:t>329</a:t>
            </a:r>
          </a:p>
          <a:p>
            <a:pPr algn="l">
              <a:lnSpc>
                <a:spcPts val="2794"/>
              </a:lnSpc>
            </a:pPr>
            <a:r>
              <a:rPr lang="en-US" sz="1995" spc="21">
                <a:solidFill>
                  <a:srgbClr val="FFFFFF"/>
                </a:solidFill>
                <a:latin typeface="Krub"/>
                <a:ea typeface="Krub"/>
                <a:cs typeface="Krub"/>
                <a:sym typeface="Krub"/>
              </a:rPr>
              <a:t>457</a:t>
            </a:r>
          </a:p>
          <a:p>
            <a:pPr algn="l">
              <a:lnSpc>
                <a:spcPts val="2794"/>
              </a:lnSpc>
            </a:pPr>
            <a:r>
              <a:rPr lang="en-US" sz="1995" spc="21">
                <a:solidFill>
                  <a:srgbClr val="FFFFFF"/>
                </a:solidFill>
                <a:latin typeface="Krub"/>
                <a:ea typeface="Krub"/>
                <a:cs typeface="Krub"/>
                <a:sym typeface="Krub"/>
              </a:rPr>
              <a:t>657</a:t>
            </a:r>
          </a:p>
          <a:p>
            <a:pPr algn="l">
              <a:lnSpc>
                <a:spcPts val="2794"/>
              </a:lnSpc>
            </a:pPr>
            <a:r>
              <a:rPr lang="en-US" sz="1995" spc="21">
                <a:solidFill>
                  <a:srgbClr val="FFFFFF"/>
                </a:solidFill>
                <a:latin typeface="Krub"/>
                <a:ea typeface="Krub"/>
                <a:cs typeface="Krub"/>
                <a:sym typeface="Krub"/>
              </a:rPr>
              <a:t>839</a:t>
            </a:r>
          </a:p>
          <a:p>
            <a:pPr algn="l">
              <a:lnSpc>
                <a:spcPts val="2794"/>
              </a:lnSpc>
            </a:pPr>
            <a:r>
              <a:rPr lang="en-US" sz="1995" spc="21">
                <a:solidFill>
                  <a:srgbClr val="FFFFFF"/>
                </a:solidFill>
                <a:latin typeface="Krub"/>
                <a:ea typeface="Krub"/>
                <a:cs typeface="Krub"/>
                <a:sym typeface="Krub"/>
              </a:rPr>
              <a:t>436</a:t>
            </a:r>
          </a:p>
          <a:p>
            <a:pPr algn="l">
              <a:lnSpc>
                <a:spcPts val="2794"/>
              </a:lnSpc>
            </a:pPr>
            <a:r>
              <a:rPr lang="en-US" sz="1995" spc="21">
                <a:solidFill>
                  <a:srgbClr val="FFFFFF"/>
                </a:solidFill>
                <a:latin typeface="Krub"/>
                <a:ea typeface="Krub"/>
                <a:cs typeface="Krub"/>
                <a:sym typeface="Krub"/>
              </a:rPr>
              <a:t>720</a:t>
            </a:r>
          </a:p>
          <a:p>
            <a:pPr algn="l">
              <a:lnSpc>
                <a:spcPts val="2794"/>
              </a:lnSpc>
            </a:pPr>
            <a:r>
              <a:rPr lang="en-US" sz="1995" spc="21">
                <a:solidFill>
                  <a:srgbClr val="FFFFFF"/>
                </a:solidFill>
                <a:latin typeface="Krub"/>
                <a:ea typeface="Krub"/>
                <a:cs typeface="Krub"/>
                <a:sym typeface="Krub"/>
              </a:rPr>
              <a:t>355</a:t>
            </a:r>
          </a:p>
        </p:txBody>
      </p:sp>
      <p:sp>
        <p:nvSpPr>
          <p:cNvPr name="TextBox 11" id="11"/>
          <p:cNvSpPr txBox="true"/>
          <p:nvPr/>
        </p:nvSpPr>
        <p:spPr>
          <a:xfrm rot="0">
            <a:off x="6459260" y="2941158"/>
            <a:ext cx="2000363" cy="27972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Tahap 1 :</a:t>
            </a:r>
          </a:p>
          <a:p>
            <a:pPr algn="l">
              <a:lnSpc>
                <a:spcPts val="2794"/>
              </a:lnSpc>
            </a:pPr>
            <a:r>
              <a:rPr lang="en-US" sz="1995" spc="21">
                <a:solidFill>
                  <a:srgbClr val="FFFFFF"/>
                </a:solidFill>
                <a:latin typeface="Krub"/>
                <a:ea typeface="Krub"/>
                <a:cs typeface="Krub"/>
                <a:sym typeface="Krub"/>
              </a:rPr>
              <a:t>720 (0)</a:t>
            </a:r>
          </a:p>
          <a:p>
            <a:pPr algn="l">
              <a:lnSpc>
                <a:spcPts val="2794"/>
              </a:lnSpc>
            </a:pPr>
            <a:r>
              <a:rPr lang="en-US" sz="1995" spc="21">
                <a:solidFill>
                  <a:srgbClr val="FFFFFF"/>
                </a:solidFill>
                <a:latin typeface="Krub"/>
                <a:ea typeface="Krub"/>
                <a:cs typeface="Krub"/>
                <a:sym typeface="Krub"/>
              </a:rPr>
              <a:t>355 (5)</a:t>
            </a:r>
          </a:p>
          <a:p>
            <a:pPr algn="l">
              <a:lnSpc>
                <a:spcPts val="2794"/>
              </a:lnSpc>
            </a:pPr>
            <a:r>
              <a:rPr lang="en-US" sz="1995" spc="21">
                <a:solidFill>
                  <a:srgbClr val="FFFFFF"/>
                </a:solidFill>
                <a:latin typeface="Krub"/>
                <a:ea typeface="Krub"/>
                <a:cs typeface="Krub"/>
                <a:sym typeface="Krub"/>
              </a:rPr>
              <a:t>436 (6)</a:t>
            </a:r>
          </a:p>
          <a:p>
            <a:pPr algn="l">
              <a:lnSpc>
                <a:spcPts val="2794"/>
              </a:lnSpc>
            </a:pPr>
            <a:r>
              <a:rPr lang="en-US" sz="1995" spc="21">
                <a:solidFill>
                  <a:srgbClr val="FFFFFF"/>
                </a:solidFill>
                <a:latin typeface="Krub"/>
                <a:ea typeface="Krub"/>
                <a:cs typeface="Krub"/>
                <a:sym typeface="Krub"/>
              </a:rPr>
              <a:t>457 (7)</a:t>
            </a:r>
          </a:p>
          <a:p>
            <a:pPr algn="l">
              <a:lnSpc>
                <a:spcPts val="2794"/>
              </a:lnSpc>
            </a:pPr>
            <a:r>
              <a:rPr lang="en-US" sz="1995" spc="21">
                <a:solidFill>
                  <a:srgbClr val="FFFFFF"/>
                </a:solidFill>
                <a:latin typeface="Krub"/>
                <a:ea typeface="Krub"/>
                <a:cs typeface="Krub"/>
                <a:sym typeface="Krub"/>
              </a:rPr>
              <a:t>657 (7)</a:t>
            </a:r>
          </a:p>
          <a:p>
            <a:pPr algn="l">
              <a:lnSpc>
                <a:spcPts val="2794"/>
              </a:lnSpc>
            </a:pPr>
            <a:r>
              <a:rPr lang="en-US" sz="1995" spc="21">
                <a:solidFill>
                  <a:srgbClr val="FFFFFF"/>
                </a:solidFill>
                <a:latin typeface="Krub"/>
                <a:ea typeface="Krub"/>
                <a:cs typeface="Krub"/>
                <a:sym typeface="Krub"/>
              </a:rPr>
              <a:t>329 (9)</a:t>
            </a:r>
          </a:p>
          <a:p>
            <a:pPr algn="l">
              <a:lnSpc>
                <a:spcPts val="2794"/>
              </a:lnSpc>
            </a:pPr>
            <a:r>
              <a:rPr lang="en-US" sz="1995" spc="21">
                <a:solidFill>
                  <a:srgbClr val="FFFFFF"/>
                </a:solidFill>
                <a:latin typeface="Krub"/>
                <a:ea typeface="Krub"/>
                <a:cs typeface="Krub"/>
                <a:sym typeface="Krub"/>
              </a:rPr>
              <a:t>839 (9)</a:t>
            </a:r>
          </a:p>
        </p:txBody>
      </p:sp>
      <p:sp>
        <p:nvSpPr>
          <p:cNvPr name="TextBox 12" id="12"/>
          <p:cNvSpPr txBox="true"/>
          <p:nvPr/>
        </p:nvSpPr>
        <p:spPr>
          <a:xfrm rot="0">
            <a:off x="9031123" y="2941158"/>
            <a:ext cx="2000363" cy="27972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Tahap 2 :</a:t>
            </a:r>
          </a:p>
          <a:p>
            <a:pPr algn="l">
              <a:lnSpc>
                <a:spcPts val="2794"/>
              </a:lnSpc>
            </a:pPr>
            <a:r>
              <a:rPr lang="en-US" sz="1995" spc="21">
                <a:solidFill>
                  <a:srgbClr val="FFFFFF"/>
                </a:solidFill>
                <a:latin typeface="Krub"/>
                <a:ea typeface="Krub"/>
                <a:cs typeface="Krub"/>
                <a:sym typeface="Krub"/>
              </a:rPr>
              <a:t>720 (2)</a:t>
            </a:r>
          </a:p>
          <a:p>
            <a:pPr algn="l">
              <a:lnSpc>
                <a:spcPts val="2794"/>
              </a:lnSpc>
            </a:pPr>
            <a:r>
              <a:rPr lang="en-US" sz="1995" spc="21">
                <a:solidFill>
                  <a:srgbClr val="FFFFFF"/>
                </a:solidFill>
                <a:latin typeface="Krub"/>
                <a:ea typeface="Krub"/>
                <a:cs typeface="Krub"/>
                <a:sym typeface="Krub"/>
              </a:rPr>
              <a:t>329 (2)</a:t>
            </a:r>
          </a:p>
          <a:p>
            <a:pPr algn="l">
              <a:lnSpc>
                <a:spcPts val="2794"/>
              </a:lnSpc>
            </a:pPr>
            <a:r>
              <a:rPr lang="en-US" sz="1995" spc="21">
                <a:solidFill>
                  <a:srgbClr val="FFFFFF"/>
                </a:solidFill>
                <a:latin typeface="Krub"/>
                <a:ea typeface="Krub"/>
                <a:cs typeface="Krub"/>
                <a:sym typeface="Krub"/>
              </a:rPr>
              <a:t>436 (3)</a:t>
            </a:r>
          </a:p>
          <a:p>
            <a:pPr algn="l">
              <a:lnSpc>
                <a:spcPts val="2794"/>
              </a:lnSpc>
            </a:pPr>
            <a:r>
              <a:rPr lang="en-US" sz="1995" spc="21">
                <a:solidFill>
                  <a:srgbClr val="FFFFFF"/>
                </a:solidFill>
                <a:latin typeface="Krub"/>
                <a:ea typeface="Krub"/>
                <a:cs typeface="Krub"/>
                <a:sym typeface="Krub"/>
              </a:rPr>
              <a:t>839 (3)</a:t>
            </a:r>
          </a:p>
          <a:p>
            <a:pPr algn="l">
              <a:lnSpc>
                <a:spcPts val="2794"/>
              </a:lnSpc>
            </a:pPr>
            <a:r>
              <a:rPr lang="en-US" sz="1995" spc="21">
                <a:solidFill>
                  <a:srgbClr val="FFFFFF"/>
                </a:solidFill>
                <a:latin typeface="Krub"/>
                <a:ea typeface="Krub"/>
                <a:cs typeface="Krub"/>
                <a:sym typeface="Krub"/>
              </a:rPr>
              <a:t>355 (5)</a:t>
            </a:r>
          </a:p>
          <a:p>
            <a:pPr algn="l">
              <a:lnSpc>
                <a:spcPts val="2794"/>
              </a:lnSpc>
            </a:pPr>
            <a:r>
              <a:rPr lang="en-US" sz="1995" spc="21">
                <a:solidFill>
                  <a:srgbClr val="FFFFFF"/>
                </a:solidFill>
                <a:latin typeface="Krub"/>
                <a:ea typeface="Krub"/>
                <a:cs typeface="Krub"/>
                <a:sym typeface="Krub"/>
              </a:rPr>
              <a:t>457 (5)</a:t>
            </a:r>
          </a:p>
          <a:p>
            <a:pPr algn="l">
              <a:lnSpc>
                <a:spcPts val="2794"/>
              </a:lnSpc>
            </a:pPr>
            <a:r>
              <a:rPr lang="en-US" sz="1995" spc="21">
                <a:solidFill>
                  <a:srgbClr val="FFFFFF"/>
                </a:solidFill>
                <a:latin typeface="Krub"/>
                <a:ea typeface="Krub"/>
                <a:cs typeface="Krub"/>
                <a:sym typeface="Krub"/>
              </a:rPr>
              <a:t>657 (5)</a:t>
            </a:r>
          </a:p>
        </p:txBody>
      </p:sp>
      <p:sp>
        <p:nvSpPr>
          <p:cNvPr name="TextBox 13" id="13"/>
          <p:cNvSpPr txBox="true"/>
          <p:nvPr/>
        </p:nvSpPr>
        <p:spPr>
          <a:xfrm rot="0">
            <a:off x="11606912" y="3057525"/>
            <a:ext cx="2000363" cy="27972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Tahap 3 :</a:t>
            </a:r>
          </a:p>
          <a:p>
            <a:pPr algn="l">
              <a:lnSpc>
                <a:spcPts val="2794"/>
              </a:lnSpc>
            </a:pPr>
            <a:r>
              <a:rPr lang="en-US" sz="1995" spc="21">
                <a:solidFill>
                  <a:srgbClr val="FFFFFF"/>
                </a:solidFill>
                <a:latin typeface="Krub"/>
                <a:ea typeface="Krub"/>
                <a:cs typeface="Krub"/>
                <a:sym typeface="Krub"/>
              </a:rPr>
              <a:t>329</a:t>
            </a:r>
          </a:p>
          <a:p>
            <a:pPr algn="l">
              <a:lnSpc>
                <a:spcPts val="2794"/>
              </a:lnSpc>
            </a:pPr>
            <a:r>
              <a:rPr lang="en-US" sz="1995" spc="21">
                <a:solidFill>
                  <a:srgbClr val="FFFFFF"/>
                </a:solidFill>
                <a:latin typeface="Krub"/>
                <a:ea typeface="Krub"/>
                <a:cs typeface="Krub"/>
                <a:sym typeface="Krub"/>
              </a:rPr>
              <a:t>355</a:t>
            </a:r>
          </a:p>
          <a:p>
            <a:pPr algn="l">
              <a:lnSpc>
                <a:spcPts val="2794"/>
              </a:lnSpc>
            </a:pPr>
            <a:r>
              <a:rPr lang="en-US" sz="1995" spc="21">
                <a:solidFill>
                  <a:srgbClr val="FFFFFF"/>
                </a:solidFill>
                <a:latin typeface="Krub"/>
                <a:ea typeface="Krub"/>
                <a:cs typeface="Krub"/>
                <a:sym typeface="Krub"/>
              </a:rPr>
              <a:t>436</a:t>
            </a:r>
          </a:p>
          <a:p>
            <a:pPr algn="l">
              <a:lnSpc>
                <a:spcPts val="2794"/>
              </a:lnSpc>
            </a:pPr>
            <a:r>
              <a:rPr lang="en-US" sz="1995" spc="21">
                <a:solidFill>
                  <a:srgbClr val="FFFFFF"/>
                </a:solidFill>
                <a:latin typeface="Krub"/>
                <a:ea typeface="Krub"/>
                <a:cs typeface="Krub"/>
                <a:sym typeface="Krub"/>
              </a:rPr>
              <a:t>457</a:t>
            </a:r>
          </a:p>
          <a:p>
            <a:pPr algn="l">
              <a:lnSpc>
                <a:spcPts val="2794"/>
              </a:lnSpc>
            </a:pPr>
            <a:r>
              <a:rPr lang="en-US" sz="1995" spc="21">
                <a:solidFill>
                  <a:srgbClr val="FFFFFF"/>
                </a:solidFill>
                <a:latin typeface="Krub"/>
                <a:ea typeface="Krub"/>
                <a:cs typeface="Krub"/>
                <a:sym typeface="Krub"/>
              </a:rPr>
              <a:t>657</a:t>
            </a:r>
          </a:p>
          <a:p>
            <a:pPr algn="l">
              <a:lnSpc>
                <a:spcPts val="2794"/>
              </a:lnSpc>
            </a:pPr>
            <a:r>
              <a:rPr lang="en-US" sz="1995" spc="21">
                <a:solidFill>
                  <a:srgbClr val="FFFFFF"/>
                </a:solidFill>
                <a:latin typeface="Krub"/>
                <a:ea typeface="Krub"/>
                <a:cs typeface="Krub"/>
                <a:sym typeface="Krub"/>
              </a:rPr>
              <a:t>720</a:t>
            </a:r>
          </a:p>
          <a:p>
            <a:pPr algn="l">
              <a:lnSpc>
                <a:spcPts val="2794"/>
              </a:lnSpc>
            </a:pPr>
            <a:r>
              <a:rPr lang="en-US" sz="1995" spc="21">
                <a:solidFill>
                  <a:srgbClr val="FFFFFF"/>
                </a:solidFill>
                <a:latin typeface="Krub"/>
                <a:ea typeface="Krub"/>
                <a:cs typeface="Krub"/>
                <a:sym typeface="Krub"/>
              </a:rPr>
              <a:t>839</a:t>
            </a:r>
          </a:p>
        </p:txBody>
      </p:sp>
      <p:sp>
        <p:nvSpPr>
          <p:cNvPr name="TextBox 14" id="14"/>
          <p:cNvSpPr txBox="true"/>
          <p:nvPr/>
        </p:nvSpPr>
        <p:spPr>
          <a:xfrm rot="0">
            <a:off x="6459260" y="6306984"/>
            <a:ext cx="2000363" cy="330308"/>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Satuan</a:t>
            </a:r>
          </a:p>
        </p:txBody>
      </p:sp>
      <p:sp>
        <p:nvSpPr>
          <p:cNvPr name="TextBox 15" id="15"/>
          <p:cNvSpPr txBox="true"/>
          <p:nvPr/>
        </p:nvSpPr>
        <p:spPr>
          <a:xfrm rot="0">
            <a:off x="9031123" y="6364134"/>
            <a:ext cx="2000363" cy="330308"/>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Puluhan</a:t>
            </a:r>
          </a:p>
        </p:txBody>
      </p:sp>
      <p:sp>
        <p:nvSpPr>
          <p:cNvPr name="TextBox 16" id="16"/>
          <p:cNvSpPr txBox="true"/>
          <p:nvPr/>
        </p:nvSpPr>
        <p:spPr>
          <a:xfrm rot="0">
            <a:off x="11606912" y="6372125"/>
            <a:ext cx="2000363" cy="330308"/>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Ratusan</a:t>
            </a:r>
          </a:p>
        </p:txBody>
      </p:sp>
      <p:sp>
        <p:nvSpPr>
          <p:cNvPr name="TextBox 17" id="17"/>
          <p:cNvSpPr txBox="true"/>
          <p:nvPr/>
        </p:nvSpPr>
        <p:spPr>
          <a:xfrm rot="0">
            <a:off x="4458896" y="7061622"/>
            <a:ext cx="2000363" cy="68273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Kompleksitas :</a:t>
            </a:r>
          </a:p>
          <a:p>
            <a:pPr algn="l">
              <a:lnSpc>
                <a:spcPts val="2794"/>
              </a:lnSpc>
            </a:pPr>
            <a:r>
              <a:rPr lang="en-US" sz="1995" spc="21">
                <a:solidFill>
                  <a:srgbClr val="FFFFFF"/>
                </a:solidFill>
                <a:latin typeface="Krub"/>
                <a:ea typeface="Krub"/>
                <a:cs typeface="Krub"/>
                <a:sym typeface="Krub"/>
              </a:rPr>
              <a:t>O(d × (n + k))</a:t>
            </a:r>
          </a:p>
        </p:txBody>
      </p:sp>
      <p:sp>
        <p:nvSpPr>
          <p:cNvPr name="TextBox 18" id="18"/>
          <p:cNvSpPr txBox="true"/>
          <p:nvPr/>
        </p:nvSpPr>
        <p:spPr>
          <a:xfrm rot="0">
            <a:off x="7023611" y="7061622"/>
            <a:ext cx="3906306" cy="1387583"/>
          </a:xfrm>
          <a:prstGeom prst="rect">
            <a:avLst/>
          </a:prstGeom>
        </p:spPr>
        <p:txBody>
          <a:bodyPr anchor="t" rtlCol="false" tIns="0" lIns="0" bIns="0" rIns="0">
            <a:spAutoFit/>
          </a:bodyPr>
          <a:lstStyle/>
          <a:p>
            <a:pPr algn="l" marL="430884" indent="-215442" lvl="1">
              <a:lnSpc>
                <a:spcPts val="2794"/>
              </a:lnSpc>
              <a:buFont typeface="Arial"/>
              <a:buChar char="•"/>
            </a:pPr>
            <a:r>
              <a:rPr lang="en-US" sz="1995" spc="21">
                <a:solidFill>
                  <a:srgbClr val="FFFFFF"/>
                </a:solidFill>
                <a:latin typeface="Krub"/>
                <a:ea typeface="Krub"/>
                <a:cs typeface="Krub"/>
                <a:sym typeface="Krub"/>
              </a:rPr>
              <a:t>d = jumlah digit</a:t>
            </a:r>
          </a:p>
          <a:p>
            <a:pPr algn="l" marL="430884" indent="-215442" lvl="1">
              <a:lnSpc>
                <a:spcPts val="2794"/>
              </a:lnSpc>
              <a:buFont typeface="Arial"/>
              <a:buChar char="•"/>
            </a:pPr>
            <a:r>
              <a:rPr lang="en-US" sz="1995" spc="21">
                <a:solidFill>
                  <a:srgbClr val="FFFFFF"/>
                </a:solidFill>
                <a:latin typeface="Krub"/>
                <a:ea typeface="Krub"/>
                <a:cs typeface="Krub"/>
                <a:sym typeface="Krub"/>
              </a:rPr>
              <a:t>n = jumlah data</a:t>
            </a:r>
          </a:p>
          <a:p>
            <a:pPr algn="l" marL="430884" indent="-215442" lvl="1">
              <a:lnSpc>
                <a:spcPts val="2794"/>
              </a:lnSpc>
              <a:buFont typeface="Arial"/>
              <a:buChar char="•"/>
            </a:pPr>
            <a:r>
              <a:rPr lang="en-US" sz="1995" spc="21">
                <a:solidFill>
                  <a:srgbClr val="FFFFFF"/>
                </a:solidFill>
                <a:latin typeface="Krub"/>
                <a:ea typeface="Krub"/>
                <a:cs typeface="Krub"/>
                <a:sym typeface="Krub"/>
              </a:rPr>
              <a:t>k = rentang nilai digit (0–9)</a:t>
            </a:r>
          </a:p>
          <a:p>
            <a:pPr algn="l">
              <a:lnSpc>
                <a:spcPts val="2794"/>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grpSp>
        <p:nvGrpSpPr>
          <p:cNvPr name="Group 2" id="2"/>
          <p:cNvGrpSpPr/>
          <p:nvPr/>
        </p:nvGrpSpPr>
        <p:grpSpPr>
          <a:xfrm rot="0">
            <a:off x="1461917" y="2710917"/>
            <a:ext cx="11860784" cy="4246314"/>
            <a:chOff x="0" y="0"/>
            <a:chExt cx="3123828" cy="1118371"/>
          </a:xfrm>
        </p:grpSpPr>
        <p:sp>
          <p:nvSpPr>
            <p:cNvPr name="Freeform 3" id="3"/>
            <p:cNvSpPr/>
            <p:nvPr/>
          </p:nvSpPr>
          <p:spPr>
            <a:xfrm flipH="false" flipV="false" rot="0">
              <a:off x="0" y="0"/>
              <a:ext cx="3123828" cy="1118371"/>
            </a:xfrm>
            <a:custGeom>
              <a:avLst/>
              <a:gdLst/>
              <a:ahLst/>
              <a:cxnLst/>
              <a:rect r="r" b="b" t="t" l="l"/>
              <a:pathLst>
                <a:path h="1118371" w="3123828">
                  <a:moveTo>
                    <a:pt x="33045" y="0"/>
                  </a:moveTo>
                  <a:lnTo>
                    <a:pt x="3090783" y="0"/>
                  </a:lnTo>
                  <a:cubicBezTo>
                    <a:pt x="3099547" y="0"/>
                    <a:pt x="3107952" y="3481"/>
                    <a:pt x="3114149" y="9679"/>
                  </a:cubicBezTo>
                  <a:cubicBezTo>
                    <a:pt x="3120346" y="15876"/>
                    <a:pt x="3123828" y="24281"/>
                    <a:pt x="3123828" y="33045"/>
                  </a:cubicBezTo>
                  <a:lnTo>
                    <a:pt x="3123828" y="1085326"/>
                  </a:lnTo>
                  <a:cubicBezTo>
                    <a:pt x="3123828" y="1094090"/>
                    <a:pt x="3120346" y="1102495"/>
                    <a:pt x="3114149" y="1108692"/>
                  </a:cubicBezTo>
                  <a:cubicBezTo>
                    <a:pt x="3107952" y="1114889"/>
                    <a:pt x="3099547" y="1118371"/>
                    <a:pt x="3090783" y="1118371"/>
                  </a:cubicBezTo>
                  <a:lnTo>
                    <a:pt x="33045" y="1118371"/>
                  </a:lnTo>
                  <a:cubicBezTo>
                    <a:pt x="24281" y="1118371"/>
                    <a:pt x="15876" y="1114889"/>
                    <a:pt x="9679" y="1108692"/>
                  </a:cubicBezTo>
                  <a:cubicBezTo>
                    <a:pt x="3481" y="1102495"/>
                    <a:pt x="0" y="1094090"/>
                    <a:pt x="0" y="1085326"/>
                  </a:cubicBezTo>
                  <a:lnTo>
                    <a:pt x="0" y="33045"/>
                  </a:lnTo>
                  <a:cubicBezTo>
                    <a:pt x="0" y="24281"/>
                    <a:pt x="3481" y="15876"/>
                    <a:pt x="9679" y="9679"/>
                  </a:cubicBezTo>
                  <a:cubicBezTo>
                    <a:pt x="15876" y="3481"/>
                    <a:pt x="24281" y="0"/>
                    <a:pt x="33045" y="0"/>
                  </a:cubicBezTo>
                  <a:close/>
                </a:path>
              </a:pathLst>
            </a:custGeom>
            <a:gradFill rotWithShape="true">
              <a:gsLst>
                <a:gs pos="0">
                  <a:srgbClr val="192385">
                    <a:alpha val="100000"/>
                  </a:srgbClr>
                </a:gs>
                <a:gs pos="100000">
                  <a:srgbClr val="2D8BBA">
                    <a:alpha val="100000"/>
                  </a:srgbClr>
                </a:gs>
              </a:gsLst>
              <a:lin ang="5400000"/>
            </a:gradFill>
          </p:spPr>
        </p:sp>
        <p:sp>
          <p:nvSpPr>
            <p:cNvPr name="TextBox 4" id="4"/>
            <p:cNvSpPr txBox="true"/>
            <p:nvPr/>
          </p:nvSpPr>
          <p:spPr>
            <a:xfrm>
              <a:off x="0" y="-38100"/>
              <a:ext cx="3123828" cy="115647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322701" y="2057400"/>
            <a:ext cx="4464558" cy="8229600"/>
          </a:xfrm>
          <a:custGeom>
            <a:avLst/>
            <a:gdLst/>
            <a:ahLst/>
            <a:cxnLst/>
            <a:rect r="r" b="b" t="t" l="l"/>
            <a:pathLst>
              <a:path h="8229600" w="4464558">
                <a:moveTo>
                  <a:pt x="0" y="0"/>
                </a:moveTo>
                <a:lnTo>
                  <a:pt x="4464558" y="0"/>
                </a:lnTo>
                <a:lnTo>
                  <a:pt x="4464558" y="8229600"/>
                </a:lnTo>
                <a:lnTo>
                  <a:pt x="0" y="8229600"/>
                </a:lnTo>
                <a:lnTo>
                  <a:pt x="0" y="0"/>
                </a:lnTo>
                <a:close/>
              </a:path>
            </a:pathLst>
          </a:custGeom>
          <a:blipFill>
            <a:blip r:embed="rId2"/>
            <a:stretch>
              <a:fillRect l="0" t="0" r="0" b="0"/>
            </a:stretch>
          </a:blipFill>
        </p:spPr>
      </p:sp>
      <p:sp>
        <p:nvSpPr>
          <p:cNvPr name="Freeform 6" id="6"/>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823157" y="781525"/>
            <a:ext cx="8641686"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MSD Sorting</a:t>
            </a:r>
          </a:p>
        </p:txBody>
      </p:sp>
      <p:sp>
        <p:nvSpPr>
          <p:cNvPr name="TextBox 9" id="9"/>
          <p:cNvSpPr txBox="true"/>
          <p:nvPr/>
        </p:nvSpPr>
        <p:spPr>
          <a:xfrm rot="0">
            <a:off x="2428082" y="3730571"/>
            <a:ext cx="9178830" cy="27972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MSD (Most Significant Digit) adalah metode Radix Sort yang memulai proses pengurutan dari digit paling kiri atau digit yang memiliki nilai paling besar terlebih dahulu.</a:t>
            </a:r>
          </a:p>
          <a:p>
            <a:pPr algn="l">
              <a:lnSpc>
                <a:spcPts val="2794"/>
              </a:lnSpc>
            </a:pPr>
            <a:r>
              <a:rPr lang="en-US" sz="1995" spc="21">
                <a:solidFill>
                  <a:srgbClr val="FFFFFF"/>
                </a:solidFill>
                <a:latin typeface="Krub"/>
                <a:ea typeface="Krub"/>
                <a:cs typeface="Krub"/>
                <a:sym typeface="Krub"/>
              </a:rPr>
              <a:t>Jika LSD bekerja dari kanan ke kiri, maka MSD bekerja dari kiri ke kanan.</a:t>
            </a:r>
          </a:p>
          <a:p>
            <a:pPr algn="l">
              <a:lnSpc>
                <a:spcPts val="2794"/>
              </a:lnSpc>
            </a:pPr>
            <a:r>
              <a:rPr lang="en-US" sz="1995" spc="21">
                <a:solidFill>
                  <a:srgbClr val="FFFFFF"/>
                </a:solidFill>
                <a:latin typeface="Krub"/>
                <a:ea typeface="Krub"/>
                <a:cs typeface="Krub"/>
                <a:sym typeface="Krub"/>
              </a:rPr>
              <a:t>MSD biasanya digunakan ketika digit awal memiliki pengaruh besar terhadap urutan data, misalnya pada pengurutan string, kata, atau angka dengan panjang berbeda.</a:t>
            </a:r>
          </a:p>
          <a:p>
            <a:pPr algn="l">
              <a:lnSpc>
                <a:spcPts val="2794"/>
              </a:lnSpc>
            </a:pPr>
          </a:p>
        </p:txBody>
      </p:sp>
      <p:sp>
        <p:nvSpPr>
          <p:cNvPr name="Freeform 10" id="10"/>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1042209"/>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Cara Kerja</a:t>
            </a:r>
          </a:p>
        </p:txBody>
      </p:sp>
      <p:sp>
        <p:nvSpPr>
          <p:cNvPr name="Freeform 3" id="3"/>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6"/>
            <a:stretch>
              <a:fillRect l="0" t="0" r="0" b="0"/>
            </a:stretch>
          </a:blipFill>
        </p:spPr>
      </p:sp>
      <p:sp>
        <p:nvSpPr>
          <p:cNvPr name="Freeform 6" id="6"/>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grpSp>
        <p:nvGrpSpPr>
          <p:cNvPr name="Group 7" id="7"/>
          <p:cNvGrpSpPr/>
          <p:nvPr/>
        </p:nvGrpSpPr>
        <p:grpSpPr>
          <a:xfrm rot="0">
            <a:off x="3752545" y="2358403"/>
            <a:ext cx="10557157" cy="6090802"/>
            <a:chOff x="0" y="0"/>
            <a:chExt cx="2780486" cy="1604162"/>
          </a:xfrm>
        </p:grpSpPr>
        <p:sp>
          <p:nvSpPr>
            <p:cNvPr name="Freeform 8" id="8">
              <a:hlinkClick r:id="rId8" tooltip="https://canva.link/os1pjd66nikx7x1"/>
            </p:cNvPr>
            <p:cNvSpPr/>
            <p:nvPr/>
          </p:nvSpPr>
          <p:spPr>
            <a:xfrm flipH="false" flipV="false" rot="0">
              <a:off x="0" y="0"/>
              <a:ext cx="2780486" cy="1604162"/>
            </a:xfrm>
            <a:custGeom>
              <a:avLst/>
              <a:gdLst/>
              <a:ahLst/>
              <a:cxnLst/>
              <a:rect r="r" b="b" t="t" l="l"/>
              <a:pathLst>
                <a:path h="1604162" w="2780486">
                  <a:moveTo>
                    <a:pt x="37125" y="0"/>
                  </a:moveTo>
                  <a:lnTo>
                    <a:pt x="2743361" y="0"/>
                  </a:lnTo>
                  <a:cubicBezTo>
                    <a:pt x="2763864" y="0"/>
                    <a:pt x="2780486" y="16621"/>
                    <a:pt x="2780486" y="37125"/>
                  </a:cubicBezTo>
                  <a:lnTo>
                    <a:pt x="2780486" y="1567037"/>
                  </a:lnTo>
                  <a:cubicBezTo>
                    <a:pt x="2780486" y="1587540"/>
                    <a:pt x="2763864" y="1604162"/>
                    <a:pt x="2743361" y="1604162"/>
                  </a:cubicBezTo>
                  <a:lnTo>
                    <a:pt x="37125" y="1604162"/>
                  </a:lnTo>
                  <a:cubicBezTo>
                    <a:pt x="16621" y="1604162"/>
                    <a:pt x="0" y="1587540"/>
                    <a:pt x="0" y="1567037"/>
                  </a:cubicBezTo>
                  <a:lnTo>
                    <a:pt x="0" y="37125"/>
                  </a:lnTo>
                  <a:cubicBezTo>
                    <a:pt x="0" y="16621"/>
                    <a:pt x="16621" y="0"/>
                    <a:pt x="37125" y="0"/>
                  </a:cubicBezTo>
                  <a:close/>
                </a:path>
              </a:pathLst>
            </a:custGeom>
            <a:gradFill rotWithShape="true">
              <a:gsLst>
                <a:gs pos="0">
                  <a:srgbClr val="192385">
                    <a:alpha val="100000"/>
                  </a:srgbClr>
                </a:gs>
                <a:gs pos="100000">
                  <a:srgbClr val="2D8BBA">
                    <a:alpha val="100000"/>
                  </a:srgbClr>
                </a:gs>
              </a:gsLst>
              <a:lin ang="5400000"/>
            </a:gradFill>
          </p:spPr>
        </p:sp>
        <p:sp>
          <p:nvSpPr>
            <p:cNvPr name="TextBox 9" id="9"/>
            <p:cNvSpPr txBox="true"/>
            <p:nvPr/>
          </p:nvSpPr>
          <p:spPr>
            <a:xfrm>
              <a:off x="0" y="-38100"/>
              <a:ext cx="2780486" cy="164226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4251029" y="2941158"/>
            <a:ext cx="2000363" cy="27972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Data :</a:t>
            </a:r>
          </a:p>
          <a:p>
            <a:pPr algn="l">
              <a:lnSpc>
                <a:spcPts val="2794"/>
              </a:lnSpc>
            </a:pPr>
            <a:r>
              <a:rPr lang="en-US" sz="1995" spc="21">
                <a:solidFill>
                  <a:srgbClr val="FFFFFF"/>
                </a:solidFill>
                <a:latin typeface="Krub"/>
                <a:ea typeface="Krub"/>
                <a:cs typeface="Krub"/>
                <a:sym typeface="Krub"/>
              </a:rPr>
              <a:t>329</a:t>
            </a:r>
          </a:p>
          <a:p>
            <a:pPr algn="l">
              <a:lnSpc>
                <a:spcPts val="2794"/>
              </a:lnSpc>
            </a:pPr>
            <a:r>
              <a:rPr lang="en-US" sz="1995" spc="21">
                <a:solidFill>
                  <a:srgbClr val="FFFFFF"/>
                </a:solidFill>
                <a:latin typeface="Krub"/>
                <a:ea typeface="Krub"/>
                <a:cs typeface="Krub"/>
                <a:sym typeface="Krub"/>
              </a:rPr>
              <a:t>457</a:t>
            </a:r>
          </a:p>
          <a:p>
            <a:pPr algn="l">
              <a:lnSpc>
                <a:spcPts val="2794"/>
              </a:lnSpc>
            </a:pPr>
            <a:r>
              <a:rPr lang="en-US" sz="1995" spc="21">
                <a:solidFill>
                  <a:srgbClr val="FFFFFF"/>
                </a:solidFill>
                <a:latin typeface="Krub"/>
                <a:ea typeface="Krub"/>
                <a:cs typeface="Krub"/>
                <a:sym typeface="Krub"/>
              </a:rPr>
              <a:t>657</a:t>
            </a:r>
          </a:p>
          <a:p>
            <a:pPr algn="l">
              <a:lnSpc>
                <a:spcPts val="2794"/>
              </a:lnSpc>
            </a:pPr>
            <a:r>
              <a:rPr lang="en-US" sz="1995" spc="21">
                <a:solidFill>
                  <a:srgbClr val="FFFFFF"/>
                </a:solidFill>
                <a:latin typeface="Krub"/>
                <a:ea typeface="Krub"/>
                <a:cs typeface="Krub"/>
                <a:sym typeface="Krub"/>
              </a:rPr>
              <a:t>839</a:t>
            </a:r>
          </a:p>
          <a:p>
            <a:pPr algn="l">
              <a:lnSpc>
                <a:spcPts val="2794"/>
              </a:lnSpc>
            </a:pPr>
            <a:r>
              <a:rPr lang="en-US" sz="1995" spc="21">
                <a:solidFill>
                  <a:srgbClr val="FFFFFF"/>
                </a:solidFill>
                <a:latin typeface="Krub"/>
                <a:ea typeface="Krub"/>
                <a:cs typeface="Krub"/>
                <a:sym typeface="Krub"/>
              </a:rPr>
              <a:t>436</a:t>
            </a:r>
          </a:p>
          <a:p>
            <a:pPr algn="l">
              <a:lnSpc>
                <a:spcPts val="2794"/>
              </a:lnSpc>
            </a:pPr>
            <a:r>
              <a:rPr lang="en-US" sz="1995" spc="21">
                <a:solidFill>
                  <a:srgbClr val="FFFFFF"/>
                </a:solidFill>
                <a:latin typeface="Krub"/>
                <a:ea typeface="Krub"/>
                <a:cs typeface="Krub"/>
                <a:sym typeface="Krub"/>
              </a:rPr>
              <a:t>720</a:t>
            </a:r>
          </a:p>
          <a:p>
            <a:pPr algn="l">
              <a:lnSpc>
                <a:spcPts val="2794"/>
              </a:lnSpc>
            </a:pPr>
            <a:r>
              <a:rPr lang="en-US" sz="1995" spc="21">
                <a:solidFill>
                  <a:srgbClr val="FFFFFF"/>
                </a:solidFill>
                <a:latin typeface="Krub"/>
                <a:ea typeface="Krub"/>
                <a:cs typeface="Krub"/>
                <a:sym typeface="Krub"/>
              </a:rPr>
              <a:t>355</a:t>
            </a:r>
          </a:p>
        </p:txBody>
      </p:sp>
      <p:sp>
        <p:nvSpPr>
          <p:cNvPr name="TextBox 11" id="11"/>
          <p:cNvSpPr txBox="true"/>
          <p:nvPr/>
        </p:nvSpPr>
        <p:spPr>
          <a:xfrm rot="0">
            <a:off x="6459260" y="3293583"/>
            <a:ext cx="2000363" cy="209243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Langkah 1</a:t>
            </a:r>
          </a:p>
          <a:p>
            <a:pPr algn="l">
              <a:lnSpc>
                <a:spcPts val="2794"/>
              </a:lnSpc>
            </a:pPr>
            <a:r>
              <a:rPr lang="en-US" sz="1995" spc="21">
                <a:solidFill>
                  <a:srgbClr val="FFFFFF"/>
                </a:solidFill>
                <a:latin typeface="Krub"/>
                <a:ea typeface="Krub"/>
                <a:cs typeface="Krub"/>
                <a:sym typeface="Krub"/>
              </a:rPr>
              <a:t>3xx → 329, 355</a:t>
            </a:r>
          </a:p>
          <a:p>
            <a:pPr algn="l">
              <a:lnSpc>
                <a:spcPts val="2794"/>
              </a:lnSpc>
            </a:pPr>
            <a:r>
              <a:rPr lang="en-US" sz="1995" spc="21">
                <a:solidFill>
                  <a:srgbClr val="FFFFFF"/>
                </a:solidFill>
                <a:latin typeface="Krub"/>
                <a:ea typeface="Krub"/>
                <a:cs typeface="Krub"/>
                <a:sym typeface="Krub"/>
              </a:rPr>
              <a:t>4xx → 457, 436</a:t>
            </a:r>
          </a:p>
          <a:p>
            <a:pPr algn="l">
              <a:lnSpc>
                <a:spcPts val="2794"/>
              </a:lnSpc>
            </a:pPr>
            <a:r>
              <a:rPr lang="en-US" sz="1995" spc="21">
                <a:solidFill>
                  <a:srgbClr val="FFFFFF"/>
                </a:solidFill>
                <a:latin typeface="Krub"/>
                <a:ea typeface="Krub"/>
                <a:cs typeface="Krub"/>
                <a:sym typeface="Krub"/>
              </a:rPr>
              <a:t>6xx → 657</a:t>
            </a:r>
          </a:p>
          <a:p>
            <a:pPr algn="l">
              <a:lnSpc>
                <a:spcPts val="2794"/>
              </a:lnSpc>
            </a:pPr>
            <a:r>
              <a:rPr lang="en-US" sz="1995" spc="21">
                <a:solidFill>
                  <a:srgbClr val="FFFFFF"/>
                </a:solidFill>
                <a:latin typeface="Krub"/>
                <a:ea typeface="Krub"/>
                <a:cs typeface="Krub"/>
                <a:sym typeface="Krub"/>
              </a:rPr>
              <a:t>7xx → 720</a:t>
            </a:r>
          </a:p>
          <a:p>
            <a:pPr algn="l">
              <a:lnSpc>
                <a:spcPts val="2794"/>
              </a:lnSpc>
            </a:pPr>
            <a:r>
              <a:rPr lang="en-US" sz="1995" spc="21">
                <a:solidFill>
                  <a:srgbClr val="FFFFFF"/>
                </a:solidFill>
                <a:latin typeface="Krub"/>
                <a:ea typeface="Krub"/>
                <a:cs typeface="Krub"/>
                <a:sym typeface="Krub"/>
              </a:rPr>
              <a:t>8xx → 839</a:t>
            </a:r>
          </a:p>
        </p:txBody>
      </p:sp>
      <p:sp>
        <p:nvSpPr>
          <p:cNvPr name="TextBox 12" id="12"/>
          <p:cNvSpPr txBox="true"/>
          <p:nvPr/>
        </p:nvSpPr>
        <p:spPr>
          <a:xfrm rot="0">
            <a:off x="9031123" y="3998433"/>
            <a:ext cx="2000363" cy="68273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Langkah 2 :</a:t>
            </a:r>
          </a:p>
          <a:p>
            <a:pPr algn="l">
              <a:lnSpc>
                <a:spcPts val="2794"/>
              </a:lnSpc>
            </a:pPr>
            <a:r>
              <a:rPr lang="en-US" sz="1995" spc="21">
                <a:solidFill>
                  <a:srgbClr val="FFFFFF"/>
                </a:solidFill>
                <a:latin typeface="Krub"/>
                <a:ea typeface="Krub"/>
                <a:cs typeface="Krub"/>
                <a:sym typeface="Krub"/>
              </a:rPr>
              <a:t>3xx → 329, 355</a:t>
            </a:r>
          </a:p>
        </p:txBody>
      </p:sp>
      <p:sp>
        <p:nvSpPr>
          <p:cNvPr name="TextBox 13" id="13"/>
          <p:cNvSpPr txBox="true"/>
          <p:nvPr/>
        </p:nvSpPr>
        <p:spPr>
          <a:xfrm rot="0">
            <a:off x="11606912" y="4444685"/>
            <a:ext cx="2000363" cy="3149708"/>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Diurutkan Berdasarkan Puluhan</a:t>
            </a:r>
          </a:p>
          <a:p>
            <a:pPr algn="l">
              <a:lnSpc>
                <a:spcPts val="2794"/>
              </a:lnSpc>
            </a:pPr>
            <a:r>
              <a:rPr lang="en-US" sz="1995" spc="21">
                <a:solidFill>
                  <a:srgbClr val="FFFFFF"/>
                </a:solidFill>
                <a:latin typeface="Krub"/>
                <a:ea typeface="Krub"/>
                <a:cs typeface="Krub"/>
                <a:sym typeface="Krub"/>
              </a:rPr>
              <a:t>329</a:t>
            </a:r>
          </a:p>
          <a:p>
            <a:pPr algn="l">
              <a:lnSpc>
                <a:spcPts val="2794"/>
              </a:lnSpc>
            </a:pPr>
            <a:r>
              <a:rPr lang="en-US" sz="1995" spc="21">
                <a:solidFill>
                  <a:srgbClr val="FFFFFF"/>
                </a:solidFill>
                <a:latin typeface="Krub"/>
                <a:ea typeface="Krub"/>
                <a:cs typeface="Krub"/>
                <a:sym typeface="Krub"/>
              </a:rPr>
              <a:t>355</a:t>
            </a:r>
          </a:p>
          <a:p>
            <a:pPr algn="l">
              <a:lnSpc>
                <a:spcPts val="2794"/>
              </a:lnSpc>
            </a:pPr>
            <a:r>
              <a:rPr lang="en-US" sz="1995" spc="21">
                <a:solidFill>
                  <a:srgbClr val="FFFFFF"/>
                </a:solidFill>
                <a:latin typeface="Krub"/>
                <a:ea typeface="Krub"/>
                <a:cs typeface="Krub"/>
                <a:sym typeface="Krub"/>
              </a:rPr>
              <a:t>lakukan hal yang sama hingga semua data terurut</a:t>
            </a:r>
          </a:p>
        </p:txBody>
      </p:sp>
      <p:sp>
        <p:nvSpPr>
          <p:cNvPr name="TextBox 14" id="14"/>
          <p:cNvSpPr txBox="true"/>
          <p:nvPr/>
        </p:nvSpPr>
        <p:spPr>
          <a:xfrm rot="0">
            <a:off x="9031123" y="4897284"/>
            <a:ext cx="2000363" cy="1740008"/>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Urutkan setiap kelompok berdasarkan digit berikutnya.</a:t>
            </a:r>
          </a:p>
        </p:txBody>
      </p:sp>
      <p:sp>
        <p:nvSpPr>
          <p:cNvPr name="TextBox 15" id="15"/>
          <p:cNvSpPr txBox="true"/>
          <p:nvPr/>
        </p:nvSpPr>
        <p:spPr>
          <a:xfrm rot="0">
            <a:off x="6459260" y="5753000"/>
            <a:ext cx="2000363" cy="330308"/>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Ratusan</a:t>
            </a:r>
          </a:p>
        </p:txBody>
      </p:sp>
      <p:sp>
        <p:nvSpPr>
          <p:cNvPr name="TextBox 16" id="16"/>
          <p:cNvSpPr txBox="true"/>
          <p:nvPr/>
        </p:nvSpPr>
        <p:spPr>
          <a:xfrm rot="0">
            <a:off x="4870848" y="6773870"/>
            <a:ext cx="2000363" cy="68273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Kompleksitas : O(d × 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885241" y="1042209"/>
            <a:ext cx="10517519"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Ternary search</a:t>
            </a:r>
          </a:p>
        </p:txBody>
      </p:sp>
      <p:grpSp>
        <p:nvGrpSpPr>
          <p:cNvPr name="Group 3" id="3"/>
          <p:cNvGrpSpPr/>
          <p:nvPr/>
        </p:nvGrpSpPr>
        <p:grpSpPr>
          <a:xfrm rot="0">
            <a:off x="1461917" y="2710917"/>
            <a:ext cx="5271005" cy="5133871"/>
            <a:chOff x="0" y="0"/>
            <a:chExt cx="1388248" cy="1352131"/>
          </a:xfrm>
        </p:grpSpPr>
        <p:sp>
          <p:nvSpPr>
            <p:cNvPr name="Freeform 4" id="4"/>
            <p:cNvSpPr/>
            <p:nvPr/>
          </p:nvSpPr>
          <p:spPr>
            <a:xfrm flipH="false" flipV="false" rot="0">
              <a:off x="0" y="0"/>
              <a:ext cx="1388248" cy="1352131"/>
            </a:xfrm>
            <a:custGeom>
              <a:avLst/>
              <a:gdLst/>
              <a:ahLst/>
              <a:cxnLst/>
              <a:rect r="r" b="b" t="t" l="l"/>
              <a:pathLst>
                <a:path h="1352131" w="1388248">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true">
              <a:gsLst>
                <a:gs pos="0">
                  <a:srgbClr val="192385">
                    <a:alpha val="100000"/>
                  </a:srgbClr>
                </a:gs>
                <a:gs pos="100000">
                  <a:srgbClr val="2D8BBA">
                    <a:alpha val="100000"/>
                  </a:srgbClr>
                </a:gs>
              </a:gsLst>
              <a:lin ang="5400000"/>
            </a:gradFill>
          </p:spPr>
        </p:sp>
        <p:sp>
          <p:nvSpPr>
            <p:cNvPr name="TextBox 5" id="5"/>
            <p:cNvSpPr txBox="true"/>
            <p:nvPr/>
          </p:nvSpPr>
          <p:spPr>
            <a:xfrm>
              <a:off x="0" y="-38100"/>
              <a:ext cx="1388248" cy="139023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2"/>
            <a:stretch>
              <a:fillRect l="0" t="0" r="0" b="0"/>
            </a:stretch>
          </a:blipFill>
        </p:spPr>
      </p:sp>
      <p:grpSp>
        <p:nvGrpSpPr>
          <p:cNvPr name="Group 7" id="7"/>
          <p:cNvGrpSpPr/>
          <p:nvPr/>
        </p:nvGrpSpPr>
        <p:grpSpPr>
          <a:xfrm rot="0">
            <a:off x="7238562" y="2710917"/>
            <a:ext cx="9071109" cy="5133871"/>
            <a:chOff x="0" y="0"/>
            <a:chExt cx="2389099" cy="1352131"/>
          </a:xfrm>
        </p:grpSpPr>
        <p:sp>
          <p:nvSpPr>
            <p:cNvPr name="Freeform 8" id="8"/>
            <p:cNvSpPr/>
            <p:nvPr/>
          </p:nvSpPr>
          <p:spPr>
            <a:xfrm flipH="false" flipV="false" rot="0">
              <a:off x="0" y="0"/>
              <a:ext cx="2389099" cy="1352131"/>
            </a:xfrm>
            <a:custGeom>
              <a:avLst/>
              <a:gdLst/>
              <a:ahLst/>
              <a:cxnLst/>
              <a:rect r="r" b="b" t="t" l="l"/>
              <a:pathLst>
                <a:path h="1352131" w="2389099">
                  <a:moveTo>
                    <a:pt x="43207" y="0"/>
                  </a:moveTo>
                  <a:lnTo>
                    <a:pt x="2345892" y="0"/>
                  </a:lnTo>
                  <a:cubicBezTo>
                    <a:pt x="2357351" y="0"/>
                    <a:pt x="2368341" y="4552"/>
                    <a:pt x="2376444" y="12655"/>
                  </a:cubicBezTo>
                  <a:cubicBezTo>
                    <a:pt x="2384547" y="20758"/>
                    <a:pt x="2389099" y="31748"/>
                    <a:pt x="2389099" y="43207"/>
                  </a:cubicBezTo>
                  <a:lnTo>
                    <a:pt x="2389099" y="1308924"/>
                  </a:lnTo>
                  <a:cubicBezTo>
                    <a:pt x="2389099" y="1320383"/>
                    <a:pt x="2384547" y="1331373"/>
                    <a:pt x="2376444" y="1339476"/>
                  </a:cubicBezTo>
                  <a:cubicBezTo>
                    <a:pt x="2368341" y="1347579"/>
                    <a:pt x="2357351" y="1352131"/>
                    <a:pt x="2345892" y="1352131"/>
                  </a:cubicBezTo>
                  <a:lnTo>
                    <a:pt x="43207" y="1352131"/>
                  </a:lnTo>
                  <a:cubicBezTo>
                    <a:pt x="31748" y="1352131"/>
                    <a:pt x="20758" y="1347579"/>
                    <a:pt x="12655" y="1339476"/>
                  </a:cubicBezTo>
                  <a:cubicBezTo>
                    <a:pt x="4552" y="1331373"/>
                    <a:pt x="0" y="1320383"/>
                    <a:pt x="0" y="1308924"/>
                  </a:cubicBezTo>
                  <a:lnTo>
                    <a:pt x="0" y="43207"/>
                  </a:lnTo>
                  <a:cubicBezTo>
                    <a:pt x="0" y="31748"/>
                    <a:pt x="4552" y="20758"/>
                    <a:pt x="12655" y="12655"/>
                  </a:cubicBezTo>
                  <a:cubicBezTo>
                    <a:pt x="20758" y="4552"/>
                    <a:pt x="31748" y="0"/>
                    <a:pt x="43207" y="0"/>
                  </a:cubicBezTo>
                  <a:close/>
                </a:path>
              </a:pathLst>
            </a:custGeom>
            <a:solidFill>
              <a:srgbClr val="FFFFFF"/>
            </a:solidFill>
            <a:ln w="38100" cap="rnd">
              <a:gradFill>
                <a:gsLst>
                  <a:gs pos="0">
                    <a:srgbClr val="192385">
                      <a:alpha val="100000"/>
                    </a:srgbClr>
                  </a:gs>
                  <a:gs pos="100000">
                    <a:srgbClr val="2D8BBA">
                      <a:alpha val="100000"/>
                    </a:srgbClr>
                  </a:gs>
                </a:gsLst>
                <a:lin ang="5400000"/>
              </a:gradFill>
              <a:prstDash val="solid"/>
              <a:round/>
            </a:ln>
          </p:spPr>
        </p:sp>
        <p:sp>
          <p:nvSpPr>
            <p:cNvPr name="TextBox 9" id="9"/>
            <p:cNvSpPr txBox="true"/>
            <p:nvPr/>
          </p:nvSpPr>
          <p:spPr>
            <a:xfrm>
              <a:off x="0" y="-38100"/>
              <a:ext cx="2389099" cy="1390231"/>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983545" y="3119892"/>
            <a:ext cx="4083401" cy="420698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Ternary Search adalah algoritma pencarian yang digunakan untuk mencari suatu nilai pada data yang sudah terurut dengan cara membagi ruang pencarian menjadi tiga bagian.</a:t>
            </a:r>
          </a:p>
          <a:p>
            <a:pPr algn="l">
              <a:lnSpc>
                <a:spcPts val="2794"/>
              </a:lnSpc>
            </a:pPr>
            <a:r>
              <a:rPr lang="en-US" sz="1995" spc="21">
                <a:solidFill>
                  <a:srgbClr val="FFFFFF"/>
                </a:solidFill>
                <a:latin typeface="Krub"/>
                <a:ea typeface="Krub"/>
                <a:cs typeface="Krub"/>
                <a:sym typeface="Krub"/>
              </a:rPr>
              <a:t>Jika Binary Search membagi data menjadi dua bagian, maka Ternary Search membaginya menjadi tiga bagian menggunakan dua titik tengah.</a:t>
            </a:r>
          </a:p>
          <a:p>
            <a:pPr algn="l">
              <a:lnSpc>
                <a:spcPts val="2794"/>
              </a:lnSpc>
            </a:pPr>
          </a:p>
        </p:txBody>
      </p:sp>
      <p:sp>
        <p:nvSpPr>
          <p:cNvPr name="TextBox 13" id="13"/>
          <p:cNvSpPr txBox="true"/>
          <p:nvPr/>
        </p:nvSpPr>
        <p:spPr>
          <a:xfrm rot="0">
            <a:off x="7761466" y="3472317"/>
            <a:ext cx="8025299" cy="1035158"/>
          </a:xfrm>
          <a:prstGeom prst="rect">
            <a:avLst/>
          </a:prstGeom>
        </p:spPr>
        <p:txBody>
          <a:bodyPr anchor="t" rtlCol="false" tIns="0" lIns="0" bIns="0" rIns="0">
            <a:spAutoFit/>
          </a:bodyPr>
          <a:lstStyle/>
          <a:p>
            <a:pPr algn="l">
              <a:lnSpc>
                <a:spcPts val="2794"/>
              </a:lnSpc>
            </a:pPr>
            <a:r>
              <a:rPr lang="en-US" sz="1995" spc="21">
                <a:solidFill>
                  <a:srgbClr val="090147"/>
                </a:solidFill>
                <a:latin typeface="Krub"/>
                <a:ea typeface="Krub"/>
                <a:cs typeface="Krub"/>
                <a:sym typeface="Krub"/>
              </a:rPr>
              <a:t>Contoh : 10 20 30 40 50 60 70 80 90</a:t>
            </a:r>
          </a:p>
          <a:p>
            <a:pPr algn="l">
              <a:lnSpc>
                <a:spcPts val="2794"/>
              </a:lnSpc>
            </a:pPr>
            <a:r>
              <a:rPr lang="en-US" sz="1995" spc="21">
                <a:solidFill>
                  <a:srgbClr val="090147"/>
                </a:solidFill>
                <a:latin typeface="Krub"/>
                <a:ea typeface="Krub"/>
                <a:cs typeface="Krub"/>
                <a:sym typeface="Krub"/>
              </a:rPr>
              <a:t>Cari nilai : 70</a:t>
            </a:r>
          </a:p>
          <a:p>
            <a:pPr algn="l">
              <a:lnSpc>
                <a:spcPts val="2794"/>
              </a:lnSpc>
            </a:pPr>
          </a:p>
        </p:txBody>
      </p:sp>
      <p:sp>
        <p:nvSpPr>
          <p:cNvPr name="Freeform 14" id="1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sp>
        <p:nvSpPr>
          <p:cNvPr name="TextBox 15" id="15"/>
          <p:cNvSpPr txBox="true"/>
          <p:nvPr/>
        </p:nvSpPr>
        <p:spPr>
          <a:xfrm rot="0">
            <a:off x="7761466" y="4478899"/>
            <a:ext cx="8025299" cy="1035158"/>
          </a:xfrm>
          <a:prstGeom prst="rect">
            <a:avLst/>
          </a:prstGeom>
        </p:spPr>
        <p:txBody>
          <a:bodyPr anchor="t" rtlCol="false" tIns="0" lIns="0" bIns="0" rIns="0">
            <a:spAutoFit/>
          </a:bodyPr>
          <a:lstStyle/>
          <a:p>
            <a:pPr algn="l">
              <a:lnSpc>
                <a:spcPts val="2794"/>
              </a:lnSpc>
            </a:pPr>
            <a:r>
              <a:rPr lang="en-US" sz="1995" spc="21">
                <a:solidFill>
                  <a:srgbClr val="090147"/>
                </a:solidFill>
                <a:latin typeface="Krub"/>
                <a:ea typeface="Krub"/>
                <a:cs typeface="Krub"/>
                <a:sym typeface="Krub"/>
              </a:rPr>
              <a:t>Cara Kerja : </a:t>
            </a:r>
          </a:p>
          <a:p>
            <a:pPr algn="l">
              <a:lnSpc>
                <a:spcPts val="2794"/>
              </a:lnSpc>
            </a:pPr>
            <a:r>
              <a:rPr lang="en-US" sz="1995" spc="21">
                <a:solidFill>
                  <a:srgbClr val="090147"/>
                </a:solidFill>
                <a:latin typeface="Krub"/>
                <a:ea typeface="Krub"/>
                <a:cs typeface="Krub"/>
                <a:sym typeface="Krub"/>
              </a:rPr>
              <a:t>mid1 = left + (right-left)/3</a:t>
            </a:r>
          </a:p>
          <a:p>
            <a:pPr algn="l">
              <a:lnSpc>
                <a:spcPts val="2794"/>
              </a:lnSpc>
            </a:pPr>
            <a:r>
              <a:rPr lang="en-US" sz="1995" spc="21">
                <a:solidFill>
                  <a:srgbClr val="090147"/>
                </a:solidFill>
                <a:latin typeface="Krub"/>
                <a:ea typeface="Krub"/>
                <a:cs typeface="Krub"/>
                <a:sym typeface="Krub"/>
              </a:rPr>
              <a:t>mid2 = right - (right-left)/3</a:t>
            </a:r>
          </a:p>
        </p:txBody>
      </p:sp>
      <p:sp>
        <p:nvSpPr>
          <p:cNvPr name="TextBox 16" id="16"/>
          <p:cNvSpPr txBox="true"/>
          <p:nvPr/>
        </p:nvSpPr>
        <p:spPr>
          <a:xfrm rot="0">
            <a:off x="7761466" y="5939292"/>
            <a:ext cx="8025299" cy="1387583"/>
          </a:xfrm>
          <a:prstGeom prst="rect">
            <a:avLst/>
          </a:prstGeom>
        </p:spPr>
        <p:txBody>
          <a:bodyPr anchor="t" rtlCol="false" tIns="0" lIns="0" bIns="0" rIns="0">
            <a:spAutoFit/>
          </a:bodyPr>
          <a:lstStyle/>
          <a:p>
            <a:pPr algn="l">
              <a:lnSpc>
                <a:spcPts val="2794"/>
              </a:lnSpc>
            </a:pPr>
            <a:r>
              <a:rPr lang="en-US" sz="1995" spc="21">
                <a:solidFill>
                  <a:srgbClr val="090147"/>
                </a:solidFill>
                <a:latin typeface="Krub"/>
                <a:ea typeface="Krub"/>
                <a:cs typeface="Krub"/>
                <a:sym typeface="Krub"/>
              </a:rPr>
              <a:t>Hasil: </a:t>
            </a:r>
          </a:p>
          <a:p>
            <a:pPr algn="l">
              <a:lnSpc>
                <a:spcPts val="2794"/>
              </a:lnSpc>
            </a:pPr>
            <a:r>
              <a:rPr lang="en-US" sz="1995" spc="21">
                <a:solidFill>
                  <a:srgbClr val="090147"/>
                </a:solidFill>
                <a:latin typeface="Krub"/>
                <a:ea typeface="Krub"/>
                <a:cs typeface="Krub"/>
                <a:sym typeface="Krub"/>
              </a:rPr>
              <a:t>10 20 30 | 40 50 60 | 70 80 90</a:t>
            </a:r>
          </a:p>
          <a:p>
            <a:pPr algn="l">
              <a:lnSpc>
                <a:spcPts val="2794"/>
              </a:lnSpc>
            </a:pPr>
            <a:r>
              <a:rPr lang="en-US" sz="1995" spc="21">
                <a:solidFill>
                  <a:srgbClr val="090147"/>
                </a:solidFill>
                <a:latin typeface="Krub"/>
                <a:ea typeface="Krub"/>
                <a:cs typeface="Krub"/>
                <a:sym typeface="Krub"/>
              </a:rPr>
              <a:t>          ^         ^</a:t>
            </a:r>
          </a:p>
          <a:p>
            <a:pPr algn="l">
              <a:lnSpc>
                <a:spcPts val="2794"/>
              </a:lnSpc>
            </a:pPr>
            <a:r>
              <a:rPr lang="en-US" sz="1995" spc="21">
                <a:solidFill>
                  <a:srgbClr val="090147"/>
                </a:solidFill>
                <a:latin typeface="Krub"/>
                <a:ea typeface="Krub"/>
                <a:cs typeface="Krub"/>
                <a:sym typeface="Krub"/>
              </a:rPr>
              <a:t>        mid1      mid2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885241" y="1042209"/>
            <a:ext cx="10517519"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Bubble sort</a:t>
            </a:r>
          </a:p>
        </p:txBody>
      </p:sp>
      <p:grpSp>
        <p:nvGrpSpPr>
          <p:cNvPr name="Group 3" id="3"/>
          <p:cNvGrpSpPr/>
          <p:nvPr/>
        </p:nvGrpSpPr>
        <p:grpSpPr>
          <a:xfrm rot="0">
            <a:off x="1461917" y="2710917"/>
            <a:ext cx="5271005" cy="5133871"/>
            <a:chOff x="0" y="0"/>
            <a:chExt cx="1388248" cy="1352131"/>
          </a:xfrm>
        </p:grpSpPr>
        <p:sp>
          <p:nvSpPr>
            <p:cNvPr name="Freeform 4" id="4"/>
            <p:cNvSpPr/>
            <p:nvPr/>
          </p:nvSpPr>
          <p:spPr>
            <a:xfrm flipH="false" flipV="false" rot="0">
              <a:off x="0" y="0"/>
              <a:ext cx="1388248" cy="1352131"/>
            </a:xfrm>
            <a:custGeom>
              <a:avLst/>
              <a:gdLst/>
              <a:ahLst/>
              <a:cxnLst/>
              <a:rect r="r" b="b" t="t" l="l"/>
              <a:pathLst>
                <a:path h="1352131" w="1388248">
                  <a:moveTo>
                    <a:pt x="74357" y="0"/>
                  </a:moveTo>
                  <a:lnTo>
                    <a:pt x="1313892" y="0"/>
                  </a:lnTo>
                  <a:cubicBezTo>
                    <a:pt x="1333612" y="0"/>
                    <a:pt x="1352525" y="7834"/>
                    <a:pt x="1366470" y="21779"/>
                  </a:cubicBezTo>
                  <a:cubicBezTo>
                    <a:pt x="1380414" y="35723"/>
                    <a:pt x="1388248" y="54636"/>
                    <a:pt x="1388248" y="74357"/>
                  </a:cubicBezTo>
                  <a:lnTo>
                    <a:pt x="1388248" y="1277774"/>
                  </a:lnTo>
                  <a:cubicBezTo>
                    <a:pt x="1388248" y="1318840"/>
                    <a:pt x="1354958" y="1352131"/>
                    <a:pt x="1313892" y="1352131"/>
                  </a:cubicBezTo>
                  <a:lnTo>
                    <a:pt x="74357" y="1352131"/>
                  </a:lnTo>
                  <a:cubicBezTo>
                    <a:pt x="54636" y="1352131"/>
                    <a:pt x="35723" y="1344297"/>
                    <a:pt x="21779" y="1330352"/>
                  </a:cubicBezTo>
                  <a:cubicBezTo>
                    <a:pt x="7834" y="1316407"/>
                    <a:pt x="0" y="1297495"/>
                    <a:pt x="0" y="1277774"/>
                  </a:cubicBezTo>
                  <a:lnTo>
                    <a:pt x="0" y="74357"/>
                  </a:lnTo>
                  <a:cubicBezTo>
                    <a:pt x="0" y="54636"/>
                    <a:pt x="7834" y="35723"/>
                    <a:pt x="21779" y="21779"/>
                  </a:cubicBezTo>
                  <a:cubicBezTo>
                    <a:pt x="35723" y="7834"/>
                    <a:pt x="54636" y="0"/>
                    <a:pt x="74357" y="0"/>
                  </a:cubicBezTo>
                  <a:close/>
                </a:path>
              </a:pathLst>
            </a:custGeom>
            <a:gradFill rotWithShape="true">
              <a:gsLst>
                <a:gs pos="0">
                  <a:srgbClr val="192385">
                    <a:alpha val="100000"/>
                  </a:srgbClr>
                </a:gs>
                <a:gs pos="100000">
                  <a:srgbClr val="2D8BBA">
                    <a:alpha val="100000"/>
                  </a:srgbClr>
                </a:gs>
              </a:gsLst>
              <a:lin ang="5400000"/>
            </a:gradFill>
          </p:spPr>
        </p:sp>
        <p:sp>
          <p:nvSpPr>
            <p:cNvPr name="TextBox 5" id="5"/>
            <p:cNvSpPr txBox="true"/>
            <p:nvPr/>
          </p:nvSpPr>
          <p:spPr>
            <a:xfrm>
              <a:off x="0" y="-38100"/>
              <a:ext cx="1388248" cy="139023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2"/>
            <a:stretch>
              <a:fillRect l="0" t="0" r="0" b="0"/>
            </a:stretch>
          </a:blipFill>
        </p:spPr>
      </p:sp>
      <p:grpSp>
        <p:nvGrpSpPr>
          <p:cNvPr name="Group 7" id="7"/>
          <p:cNvGrpSpPr/>
          <p:nvPr/>
        </p:nvGrpSpPr>
        <p:grpSpPr>
          <a:xfrm rot="0">
            <a:off x="7238562" y="2710917"/>
            <a:ext cx="9071109" cy="5133871"/>
            <a:chOff x="0" y="0"/>
            <a:chExt cx="2389099" cy="1352131"/>
          </a:xfrm>
        </p:grpSpPr>
        <p:sp>
          <p:nvSpPr>
            <p:cNvPr name="Freeform 8" id="8"/>
            <p:cNvSpPr/>
            <p:nvPr/>
          </p:nvSpPr>
          <p:spPr>
            <a:xfrm flipH="false" flipV="false" rot="0">
              <a:off x="0" y="0"/>
              <a:ext cx="2389099" cy="1352131"/>
            </a:xfrm>
            <a:custGeom>
              <a:avLst/>
              <a:gdLst/>
              <a:ahLst/>
              <a:cxnLst/>
              <a:rect r="r" b="b" t="t" l="l"/>
              <a:pathLst>
                <a:path h="1352131" w="2389099">
                  <a:moveTo>
                    <a:pt x="43207" y="0"/>
                  </a:moveTo>
                  <a:lnTo>
                    <a:pt x="2345892" y="0"/>
                  </a:lnTo>
                  <a:cubicBezTo>
                    <a:pt x="2357351" y="0"/>
                    <a:pt x="2368341" y="4552"/>
                    <a:pt x="2376444" y="12655"/>
                  </a:cubicBezTo>
                  <a:cubicBezTo>
                    <a:pt x="2384547" y="20758"/>
                    <a:pt x="2389099" y="31748"/>
                    <a:pt x="2389099" y="43207"/>
                  </a:cubicBezTo>
                  <a:lnTo>
                    <a:pt x="2389099" y="1308924"/>
                  </a:lnTo>
                  <a:cubicBezTo>
                    <a:pt x="2389099" y="1320383"/>
                    <a:pt x="2384547" y="1331373"/>
                    <a:pt x="2376444" y="1339476"/>
                  </a:cubicBezTo>
                  <a:cubicBezTo>
                    <a:pt x="2368341" y="1347579"/>
                    <a:pt x="2357351" y="1352131"/>
                    <a:pt x="2345892" y="1352131"/>
                  </a:cubicBezTo>
                  <a:lnTo>
                    <a:pt x="43207" y="1352131"/>
                  </a:lnTo>
                  <a:cubicBezTo>
                    <a:pt x="31748" y="1352131"/>
                    <a:pt x="20758" y="1347579"/>
                    <a:pt x="12655" y="1339476"/>
                  </a:cubicBezTo>
                  <a:cubicBezTo>
                    <a:pt x="4552" y="1331373"/>
                    <a:pt x="0" y="1320383"/>
                    <a:pt x="0" y="1308924"/>
                  </a:cubicBezTo>
                  <a:lnTo>
                    <a:pt x="0" y="43207"/>
                  </a:lnTo>
                  <a:cubicBezTo>
                    <a:pt x="0" y="31748"/>
                    <a:pt x="4552" y="20758"/>
                    <a:pt x="12655" y="12655"/>
                  </a:cubicBezTo>
                  <a:cubicBezTo>
                    <a:pt x="20758" y="4552"/>
                    <a:pt x="31748" y="0"/>
                    <a:pt x="43207" y="0"/>
                  </a:cubicBezTo>
                  <a:close/>
                </a:path>
              </a:pathLst>
            </a:custGeom>
            <a:solidFill>
              <a:srgbClr val="FFFFFF"/>
            </a:solidFill>
            <a:ln w="38100" cap="rnd">
              <a:gradFill>
                <a:gsLst>
                  <a:gs pos="0">
                    <a:srgbClr val="192385">
                      <a:alpha val="100000"/>
                    </a:srgbClr>
                  </a:gs>
                  <a:gs pos="100000">
                    <a:srgbClr val="2D8BBA">
                      <a:alpha val="100000"/>
                    </a:srgbClr>
                  </a:gs>
                </a:gsLst>
                <a:lin ang="5400000"/>
              </a:gradFill>
              <a:prstDash val="solid"/>
              <a:round/>
            </a:ln>
          </p:spPr>
        </p:sp>
        <p:sp>
          <p:nvSpPr>
            <p:cNvPr name="TextBox 9" id="9"/>
            <p:cNvSpPr txBox="true"/>
            <p:nvPr/>
          </p:nvSpPr>
          <p:spPr>
            <a:xfrm>
              <a:off x="0" y="-38100"/>
              <a:ext cx="2389099" cy="1390231"/>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983545" y="3472317"/>
            <a:ext cx="4083401" cy="3502133"/>
          </a:xfrm>
          <a:prstGeom prst="rect">
            <a:avLst/>
          </a:prstGeom>
        </p:spPr>
        <p:txBody>
          <a:bodyPr anchor="t" rtlCol="false" tIns="0" lIns="0" bIns="0" rIns="0">
            <a:spAutoFit/>
          </a:bodyPr>
          <a:lstStyle/>
          <a:p>
            <a:pPr algn="l">
              <a:lnSpc>
                <a:spcPts val="2794"/>
              </a:lnSpc>
            </a:pPr>
            <a:r>
              <a:rPr lang="en-US" sz="1995" spc="21">
                <a:solidFill>
                  <a:srgbClr val="FFFFFF"/>
                </a:solidFill>
                <a:latin typeface="Krub"/>
                <a:ea typeface="Krub"/>
                <a:cs typeface="Krub"/>
                <a:sym typeface="Krub"/>
              </a:rPr>
              <a:t>Bubble Sort adalah algoritma pengurutan (sorting) sederhana yang bekerja dengan cara membandingkan dua elemen yang bersebelahan, kemudian menukarnya jika urutannya salah. Proses ini dilakukan berulang-ulang hingga seluruh data tersusun sesuai urutan yang diinginkan.</a:t>
            </a:r>
          </a:p>
        </p:txBody>
      </p:sp>
      <p:sp>
        <p:nvSpPr>
          <p:cNvPr name="TextBox 13" id="13"/>
          <p:cNvSpPr txBox="true"/>
          <p:nvPr/>
        </p:nvSpPr>
        <p:spPr>
          <a:xfrm rot="0">
            <a:off x="7761466" y="3472317"/>
            <a:ext cx="8025299" cy="3502133"/>
          </a:xfrm>
          <a:prstGeom prst="rect">
            <a:avLst/>
          </a:prstGeom>
        </p:spPr>
        <p:txBody>
          <a:bodyPr anchor="t" rtlCol="false" tIns="0" lIns="0" bIns="0" rIns="0">
            <a:spAutoFit/>
          </a:bodyPr>
          <a:lstStyle/>
          <a:p>
            <a:pPr algn="l">
              <a:lnSpc>
                <a:spcPts val="2794"/>
              </a:lnSpc>
            </a:pPr>
            <a:r>
              <a:rPr lang="en-US" sz="1995" spc="21">
                <a:solidFill>
                  <a:srgbClr val="090147"/>
                </a:solidFill>
                <a:latin typeface="Krub"/>
                <a:ea typeface="Krub"/>
                <a:cs typeface="Krub"/>
                <a:sym typeface="Krub"/>
              </a:rPr>
              <a:t>Cara Kerja Bubble Sort</a:t>
            </a:r>
          </a:p>
          <a:p>
            <a:pPr algn="l">
              <a:lnSpc>
                <a:spcPts val="2794"/>
              </a:lnSpc>
            </a:pPr>
            <a:r>
              <a:rPr lang="en-US" sz="1995" spc="21">
                <a:solidFill>
                  <a:srgbClr val="090147"/>
                </a:solidFill>
                <a:latin typeface="Krub"/>
                <a:ea typeface="Krub"/>
                <a:cs typeface="Krub"/>
                <a:sym typeface="Krub"/>
              </a:rPr>
              <a:t>Misalnya terdapat data:</a:t>
            </a:r>
          </a:p>
          <a:p>
            <a:pPr algn="l">
              <a:lnSpc>
                <a:spcPts val="2794"/>
              </a:lnSpc>
            </a:pPr>
            <a:r>
              <a:rPr lang="en-US" sz="1995" spc="21">
                <a:solidFill>
                  <a:srgbClr val="090147"/>
                </a:solidFill>
                <a:latin typeface="Krub"/>
                <a:ea typeface="Krub"/>
                <a:cs typeface="Krub"/>
                <a:sym typeface="Krub"/>
              </a:rPr>
              <a:t>5, 3, 8, 1</a:t>
            </a:r>
          </a:p>
          <a:p>
            <a:pPr algn="l">
              <a:lnSpc>
                <a:spcPts val="2794"/>
              </a:lnSpc>
            </a:pPr>
            <a:r>
              <a:rPr lang="en-US" sz="1995" spc="21">
                <a:solidFill>
                  <a:srgbClr val="090147"/>
                </a:solidFill>
                <a:latin typeface="Krub"/>
                <a:ea typeface="Krub"/>
                <a:cs typeface="Krub"/>
                <a:sym typeface="Krub"/>
              </a:rPr>
              <a:t>Langkah pertama:</a:t>
            </a:r>
          </a:p>
          <a:p>
            <a:pPr algn="l" marL="430884" indent="-215442" lvl="1">
              <a:lnSpc>
                <a:spcPts val="2794"/>
              </a:lnSpc>
              <a:buFont typeface="Arial"/>
              <a:buChar char="•"/>
            </a:pPr>
            <a:r>
              <a:rPr lang="en-US" sz="1995" spc="21">
                <a:solidFill>
                  <a:srgbClr val="090147"/>
                </a:solidFill>
                <a:latin typeface="Krub"/>
                <a:ea typeface="Krub"/>
                <a:cs typeface="Krub"/>
                <a:sym typeface="Krub"/>
              </a:rPr>
              <a:t>Bandingkan 5 dan 3 → tukar → 3, 5, 8, 1</a:t>
            </a:r>
          </a:p>
          <a:p>
            <a:pPr algn="l" marL="430884" indent="-215442" lvl="1">
              <a:lnSpc>
                <a:spcPts val="2794"/>
              </a:lnSpc>
              <a:buFont typeface="Arial"/>
              <a:buChar char="•"/>
            </a:pPr>
            <a:r>
              <a:rPr lang="en-US" sz="1995" spc="21">
                <a:solidFill>
                  <a:srgbClr val="090147"/>
                </a:solidFill>
                <a:latin typeface="Krub"/>
                <a:ea typeface="Krub"/>
                <a:cs typeface="Krub"/>
                <a:sym typeface="Krub"/>
              </a:rPr>
              <a:t>Bandingkan 5 dan 8 → tidak ditukar</a:t>
            </a:r>
          </a:p>
          <a:p>
            <a:pPr algn="l" marL="430884" indent="-215442" lvl="1">
              <a:lnSpc>
                <a:spcPts val="2794"/>
              </a:lnSpc>
              <a:buFont typeface="Arial"/>
              <a:buChar char="•"/>
            </a:pPr>
            <a:r>
              <a:rPr lang="en-US" sz="1995" spc="21">
                <a:solidFill>
                  <a:srgbClr val="090147"/>
                </a:solidFill>
                <a:latin typeface="Krub"/>
                <a:ea typeface="Krub"/>
                <a:cs typeface="Krub"/>
                <a:sym typeface="Krub"/>
              </a:rPr>
              <a:t>Bandingkan 8 dan 1 → tukar → 3, 5, 1, 8</a:t>
            </a:r>
          </a:p>
          <a:p>
            <a:pPr algn="l">
              <a:lnSpc>
                <a:spcPts val="2794"/>
              </a:lnSpc>
            </a:pPr>
            <a:r>
              <a:rPr lang="en-US" sz="1995" spc="21">
                <a:solidFill>
                  <a:srgbClr val="090147"/>
                </a:solidFill>
                <a:latin typeface="Krub"/>
                <a:ea typeface="Krub"/>
                <a:cs typeface="Krub"/>
                <a:sym typeface="Krub"/>
              </a:rPr>
              <a:t>Setelah satu putaran, angka terbesar (8) sudah berada di posisi akhir. Proses yang sama diulangi hingga seluruh data terurut.</a:t>
            </a:r>
          </a:p>
          <a:p>
            <a:pPr algn="l">
              <a:lnSpc>
                <a:spcPts val="2794"/>
              </a:lnSpc>
            </a:pPr>
          </a:p>
        </p:txBody>
      </p:sp>
      <p:sp>
        <p:nvSpPr>
          <p:cNvPr name="Freeform 14" id="1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grpSp>
        <p:nvGrpSpPr>
          <p:cNvPr name="Group 2" id="2"/>
          <p:cNvGrpSpPr/>
          <p:nvPr/>
        </p:nvGrpSpPr>
        <p:grpSpPr>
          <a:xfrm rot="0">
            <a:off x="3310273" y="2871338"/>
            <a:ext cx="13085754" cy="6860828"/>
            <a:chOff x="0" y="0"/>
            <a:chExt cx="3446454" cy="1806967"/>
          </a:xfrm>
        </p:grpSpPr>
        <p:sp>
          <p:nvSpPr>
            <p:cNvPr name="Freeform 3" id="3"/>
            <p:cNvSpPr/>
            <p:nvPr/>
          </p:nvSpPr>
          <p:spPr>
            <a:xfrm flipH="false" flipV="false" rot="0">
              <a:off x="0" y="0"/>
              <a:ext cx="3446454" cy="1806967"/>
            </a:xfrm>
            <a:custGeom>
              <a:avLst/>
              <a:gdLst/>
              <a:ahLst/>
              <a:cxnLst/>
              <a:rect r="r" b="b" t="t" l="l"/>
              <a:pathLst>
                <a:path h="1806967" w="3446454">
                  <a:moveTo>
                    <a:pt x="29951" y="0"/>
                  </a:moveTo>
                  <a:lnTo>
                    <a:pt x="3416503" y="0"/>
                  </a:lnTo>
                  <a:cubicBezTo>
                    <a:pt x="3433044" y="0"/>
                    <a:pt x="3446454" y="13410"/>
                    <a:pt x="3446454" y="29951"/>
                  </a:cubicBezTo>
                  <a:lnTo>
                    <a:pt x="3446454" y="1777016"/>
                  </a:lnTo>
                  <a:cubicBezTo>
                    <a:pt x="3446454" y="1784959"/>
                    <a:pt x="3443298" y="1792578"/>
                    <a:pt x="3437682" y="1798195"/>
                  </a:cubicBezTo>
                  <a:cubicBezTo>
                    <a:pt x="3432065" y="1803811"/>
                    <a:pt x="3424446" y="1806967"/>
                    <a:pt x="3416503" y="1806967"/>
                  </a:cubicBezTo>
                  <a:lnTo>
                    <a:pt x="29951" y="1806967"/>
                  </a:lnTo>
                  <a:cubicBezTo>
                    <a:pt x="22008" y="1806967"/>
                    <a:pt x="14389" y="1803811"/>
                    <a:pt x="8773" y="1798195"/>
                  </a:cubicBezTo>
                  <a:cubicBezTo>
                    <a:pt x="3156" y="1792578"/>
                    <a:pt x="0" y="1784959"/>
                    <a:pt x="0" y="1777016"/>
                  </a:cubicBezTo>
                  <a:lnTo>
                    <a:pt x="0" y="29951"/>
                  </a:lnTo>
                  <a:cubicBezTo>
                    <a:pt x="0" y="22008"/>
                    <a:pt x="3156" y="14389"/>
                    <a:pt x="8773" y="8773"/>
                  </a:cubicBezTo>
                  <a:cubicBezTo>
                    <a:pt x="14389" y="3156"/>
                    <a:pt x="22008" y="0"/>
                    <a:pt x="29951" y="0"/>
                  </a:cubicBezTo>
                  <a:close/>
                </a:path>
              </a:pathLst>
            </a:custGeom>
            <a:gradFill rotWithShape="true">
              <a:gsLst>
                <a:gs pos="0">
                  <a:srgbClr val="192385">
                    <a:alpha val="100000"/>
                  </a:srgbClr>
                </a:gs>
                <a:gs pos="100000">
                  <a:srgbClr val="2D8BBA">
                    <a:alpha val="100000"/>
                  </a:srgbClr>
                </a:gs>
              </a:gsLst>
              <a:lin ang="5400000"/>
            </a:gradFill>
          </p:spPr>
        </p:sp>
        <p:sp>
          <p:nvSpPr>
            <p:cNvPr name="TextBox 4" id="4"/>
            <p:cNvSpPr txBox="true"/>
            <p:nvPr/>
          </p:nvSpPr>
          <p:spPr>
            <a:xfrm>
              <a:off x="0" y="-38100"/>
              <a:ext cx="3446454" cy="184506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6"/>
            <a:stretch>
              <a:fillRect l="0" t="0" r="0" b="0"/>
            </a:stretch>
          </a:blipFill>
        </p:spPr>
      </p:sp>
      <p:sp>
        <p:nvSpPr>
          <p:cNvPr name="Freeform 8" id="8"/>
          <p:cNvSpPr/>
          <p:nvPr/>
        </p:nvSpPr>
        <p:spPr>
          <a:xfrm flipH="false" flipV="false" rot="0">
            <a:off x="15261453" y="-505617"/>
            <a:ext cx="3486358" cy="4114800"/>
          </a:xfrm>
          <a:custGeom>
            <a:avLst/>
            <a:gdLst/>
            <a:ahLst/>
            <a:cxnLst/>
            <a:rect r="r" b="b" t="t" l="l"/>
            <a:pathLst>
              <a:path h="4114800" w="3486358">
                <a:moveTo>
                  <a:pt x="0" y="0"/>
                </a:moveTo>
                <a:lnTo>
                  <a:pt x="3486357" y="0"/>
                </a:lnTo>
                <a:lnTo>
                  <a:pt x="348635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853507" y="6458369"/>
            <a:ext cx="5588197" cy="2799931"/>
          </a:xfrm>
          <a:custGeom>
            <a:avLst/>
            <a:gdLst/>
            <a:ahLst/>
            <a:cxnLst/>
            <a:rect r="r" b="b" t="t" l="l"/>
            <a:pathLst>
              <a:path h="2799931" w="5588197">
                <a:moveTo>
                  <a:pt x="0" y="0"/>
                </a:moveTo>
                <a:lnTo>
                  <a:pt x="5588197" y="0"/>
                </a:lnTo>
                <a:lnTo>
                  <a:pt x="5588197" y="2799931"/>
                </a:lnTo>
                <a:lnTo>
                  <a:pt x="0" y="2799931"/>
                </a:lnTo>
                <a:lnTo>
                  <a:pt x="0" y="0"/>
                </a:lnTo>
                <a:close/>
              </a:path>
            </a:pathLst>
          </a:custGeom>
          <a:blipFill>
            <a:blip r:embed="rId9"/>
            <a:stretch>
              <a:fillRect l="0" t="0" r="0" b="0"/>
            </a:stretch>
          </a:blipFill>
        </p:spPr>
      </p:sp>
      <p:sp>
        <p:nvSpPr>
          <p:cNvPr name="Freeform 10" id="10"/>
          <p:cNvSpPr/>
          <p:nvPr/>
        </p:nvSpPr>
        <p:spPr>
          <a:xfrm flipH="false" flipV="false" rot="0">
            <a:off x="3809695" y="3461066"/>
            <a:ext cx="10986492" cy="2340872"/>
          </a:xfrm>
          <a:custGeom>
            <a:avLst/>
            <a:gdLst/>
            <a:ahLst/>
            <a:cxnLst/>
            <a:rect r="r" b="b" t="t" l="l"/>
            <a:pathLst>
              <a:path h="2340872" w="10986492">
                <a:moveTo>
                  <a:pt x="0" y="0"/>
                </a:moveTo>
                <a:lnTo>
                  <a:pt x="10986492" y="0"/>
                </a:lnTo>
                <a:lnTo>
                  <a:pt x="10986492" y="2340872"/>
                </a:lnTo>
                <a:lnTo>
                  <a:pt x="0" y="2340872"/>
                </a:lnTo>
                <a:lnTo>
                  <a:pt x="0" y="0"/>
                </a:lnTo>
                <a:close/>
              </a:path>
            </a:pathLst>
          </a:custGeom>
          <a:blipFill>
            <a:blip r:embed="rId10"/>
            <a:stretch>
              <a:fillRect l="0" t="0" r="0" b="0"/>
            </a:stretch>
          </a:blipFill>
        </p:spPr>
      </p:sp>
      <p:sp>
        <p:nvSpPr>
          <p:cNvPr name="TextBox 11" id="11"/>
          <p:cNvSpPr txBox="true"/>
          <p:nvPr/>
        </p:nvSpPr>
        <p:spPr>
          <a:xfrm rot="0">
            <a:off x="5871030" y="204009"/>
            <a:ext cx="6545941" cy="18668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Grafik 1000 Data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grpSp>
        <p:nvGrpSpPr>
          <p:cNvPr name="Group 2" id="2"/>
          <p:cNvGrpSpPr/>
          <p:nvPr/>
        </p:nvGrpSpPr>
        <p:grpSpPr>
          <a:xfrm rot="0">
            <a:off x="2147050" y="2772025"/>
            <a:ext cx="13993900" cy="6486275"/>
            <a:chOff x="0" y="0"/>
            <a:chExt cx="3685636" cy="1708319"/>
          </a:xfrm>
        </p:grpSpPr>
        <p:sp>
          <p:nvSpPr>
            <p:cNvPr name="Freeform 3" id="3"/>
            <p:cNvSpPr/>
            <p:nvPr/>
          </p:nvSpPr>
          <p:spPr>
            <a:xfrm flipH="false" flipV="false" rot="0">
              <a:off x="0" y="0"/>
              <a:ext cx="3685636" cy="1708320"/>
            </a:xfrm>
            <a:custGeom>
              <a:avLst/>
              <a:gdLst/>
              <a:ahLst/>
              <a:cxnLst/>
              <a:rect r="r" b="b" t="t" l="l"/>
              <a:pathLst>
                <a:path h="1708320" w="3685636">
                  <a:moveTo>
                    <a:pt x="28008" y="0"/>
                  </a:moveTo>
                  <a:lnTo>
                    <a:pt x="3657629" y="0"/>
                  </a:lnTo>
                  <a:cubicBezTo>
                    <a:pt x="3665057" y="0"/>
                    <a:pt x="3672181" y="2951"/>
                    <a:pt x="3677433" y="8203"/>
                  </a:cubicBezTo>
                  <a:cubicBezTo>
                    <a:pt x="3682686" y="13456"/>
                    <a:pt x="3685636" y="20579"/>
                    <a:pt x="3685636" y="28008"/>
                  </a:cubicBezTo>
                  <a:lnTo>
                    <a:pt x="3685636" y="1680312"/>
                  </a:lnTo>
                  <a:cubicBezTo>
                    <a:pt x="3685636" y="1695780"/>
                    <a:pt x="3673097" y="1708320"/>
                    <a:pt x="3657629" y="1708320"/>
                  </a:cubicBezTo>
                  <a:lnTo>
                    <a:pt x="28008" y="1708320"/>
                  </a:lnTo>
                  <a:cubicBezTo>
                    <a:pt x="12539" y="1708320"/>
                    <a:pt x="0" y="1695780"/>
                    <a:pt x="0" y="1680312"/>
                  </a:cubicBezTo>
                  <a:lnTo>
                    <a:pt x="0" y="28008"/>
                  </a:lnTo>
                  <a:cubicBezTo>
                    <a:pt x="0" y="12539"/>
                    <a:pt x="12539" y="0"/>
                    <a:pt x="28008" y="0"/>
                  </a:cubicBezTo>
                  <a:close/>
                </a:path>
              </a:pathLst>
            </a:custGeom>
            <a:gradFill rotWithShape="true">
              <a:gsLst>
                <a:gs pos="0">
                  <a:srgbClr val="192385">
                    <a:alpha val="100000"/>
                  </a:srgbClr>
                </a:gs>
                <a:gs pos="100000">
                  <a:srgbClr val="2D8BBA">
                    <a:alpha val="100000"/>
                  </a:srgbClr>
                </a:gs>
              </a:gsLst>
              <a:lin ang="5400000"/>
            </a:gradFill>
          </p:spPr>
        </p:sp>
        <p:sp>
          <p:nvSpPr>
            <p:cNvPr name="TextBox 4" id="4"/>
            <p:cNvSpPr txBox="true"/>
            <p:nvPr/>
          </p:nvSpPr>
          <p:spPr>
            <a:xfrm>
              <a:off x="0" y="-38100"/>
              <a:ext cx="3685636" cy="174641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6"/>
            <a:stretch>
              <a:fillRect l="0" t="0" r="0" b="0"/>
            </a:stretch>
          </a:blipFill>
        </p:spPr>
      </p:sp>
      <p:sp>
        <p:nvSpPr>
          <p:cNvPr name="Freeform 8" id="8"/>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7"/>
            <a:stretch>
              <a:fillRect l="0" t="0" r="0" b="0"/>
            </a:stretch>
          </a:blipFill>
        </p:spPr>
      </p:sp>
      <p:sp>
        <p:nvSpPr>
          <p:cNvPr name="Freeform 9" id="9"/>
          <p:cNvSpPr/>
          <p:nvPr/>
        </p:nvSpPr>
        <p:spPr>
          <a:xfrm flipH="false" flipV="false" rot="0">
            <a:off x="3493371" y="3579641"/>
            <a:ext cx="11301259" cy="4153213"/>
          </a:xfrm>
          <a:custGeom>
            <a:avLst/>
            <a:gdLst/>
            <a:ahLst/>
            <a:cxnLst/>
            <a:rect r="r" b="b" t="t" l="l"/>
            <a:pathLst>
              <a:path h="4153213" w="11301259">
                <a:moveTo>
                  <a:pt x="0" y="0"/>
                </a:moveTo>
                <a:lnTo>
                  <a:pt x="11301258" y="0"/>
                </a:lnTo>
                <a:lnTo>
                  <a:pt x="11301258" y="4153213"/>
                </a:lnTo>
                <a:lnTo>
                  <a:pt x="0" y="4153213"/>
                </a:lnTo>
                <a:lnTo>
                  <a:pt x="0" y="0"/>
                </a:lnTo>
                <a:close/>
              </a:path>
            </a:pathLst>
          </a:custGeom>
          <a:blipFill>
            <a:blip r:embed="rId8"/>
            <a:stretch>
              <a:fillRect l="0" t="0" r="0" b="0"/>
            </a:stretch>
          </a:blipFill>
        </p:spPr>
      </p:sp>
      <p:sp>
        <p:nvSpPr>
          <p:cNvPr name="TextBox 10" id="10"/>
          <p:cNvSpPr txBox="true"/>
          <p:nvPr/>
        </p:nvSpPr>
        <p:spPr>
          <a:xfrm rot="0">
            <a:off x="4140506" y="1330629"/>
            <a:ext cx="10006987"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DAta set </a:t>
            </a:r>
          </a:p>
        </p:txBody>
      </p:sp>
      <p:sp>
        <p:nvSpPr>
          <p:cNvPr name="TextBox 11" id="11"/>
          <p:cNvSpPr txBox="true"/>
          <p:nvPr/>
        </p:nvSpPr>
        <p:spPr>
          <a:xfrm rot="0">
            <a:off x="3752545" y="8172450"/>
            <a:ext cx="6981631" cy="541597"/>
          </a:xfrm>
          <a:prstGeom prst="rect">
            <a:avLst/>
          </a:prstGeom>
        </p:spPr>
        <p:txBody>
          <a:bodyPr anchor="t" rtlCol="false" tIns="0" lIns="0" bIns="0" rIns="0">
            <a:spAutoFit/>
          </a:bodyPr>
          <a:lstStyle/>
          <a:p>
            <a:pPr algn="l">
              <a:lnSpc>
                <a:spcPts val="4486"/>
              </a:lnSpc>
            </a:pPr>
            <a:r>
              <a:rPr lang="en-US" sz="3204" spc="35" u="sng">
                <a:solidFill>
                  <a:srgbClr val="FFFFFF"/>
                </a:solidFill>
                <a:latin typeface="Krub"/>
                <a:ea typeface="Krub"/>
                <a:cs typeface="Krub"/>
                <a:sym typeface="Krub"/>
                <a:hlinkClick r:id="rId9" tooltip="https://www.kaggle.com/datasets/achilham/data-mahasiswa"/>
              </a:rPr>
              <a:t>Data Set 1000 Berasal dari Kaggle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grpSp>
        <p:nvGrpSpPr>
          <p:cNvPr name="Group 2" id="2"/>
          <p:cNvGrpSpPr/>
          <p:nvPr/>
        </p:nvGrpSpPr>
        <p:grpSpPr>
          <a:xfrm rot="0">
            <a:off x="3620175" y="2871338"/>
            <a:ext cx="11131638" cy="5169176"/>
            <a:chOff x="0" y="0"/>
            <a:chExt cx="2931789" cy="1361429"/>
          </a:xfrm>
        </p:grpSpPr>
        <p:sp>
          <p:nvSpPr>
            <p:cNvPr name="Freeform 3" id="3"/>
            <p:cNvSpPr/>
            <p:nvPr/>
          </p:nvSpPr>
          <p:spPr>
            <a:xfrm flipH="false" flipV="false" rot="0">
              <a:off x="0" y="0"/>
              <a:ext cx="2931789" cy="1361429"/>
            </a:xfrm>
            <a:custGeom>
              <a:avLst/>
              <a:gdLst/>
              <a:ahLst/>
              <a:cxnLst/>
              <a:rect r="r" b="b" t="t" l="l"/>
              <a:pathLst>
                <a:path h="1361429" w="2931789">
                  <a:moveTo>
                    <a:pt x="35209" y="0"/>
                  </a:moveTo>
                  <a:lnTo>
                    <a:pt x="2896580" y="0"/>
                  </a:lnTo>
                  <a:cubicBezTo>
                    <a:pt x="2905918" y="0"/>
                    <a:pt x="2914874" y="3710"/>
                    <a:pt x="2921477" y="10312"/>
                  </a:cubicBezTo>
                  <a:cubicBezTo>
                    <a:pt x="2928080" y="16915"/>
                    <a:pt x="2931789" y="25871"/>
                    <a:pt x="2931789" y="35209"/>
                  </a:cubicBezTo>
                  <a:lnTo>
                    <a:pt x="2931789" y="1326220"/>
                  </a:lnTo>
                  <a:cubicBezTo>
                    <a:pt x="2931789" y="1335558"/>
                    <a:pt x="2928080" y="1344514"/>
                    <a:pt x="2921477" y="1351117"/>
                  </a:cubicBezTo>
                  <a:cubicBezTo>
                    <a:pt x="2914874" y="1357720"/>
                    <a:pt x="2905918" y="1361429"/>
                    <a:pt x="2896580" y="1361429"/>
                  </a:cubicBezTo>
                  <a:lnTo>
                    <a:pt x="35209" y="1361429"/>
                  </a:lnTo>
                  <a:cubicBezTo>
                    <a:pt x="15764" y="1361429"/>
                    <a:pt x="0" y="1345665"/>
                    <a:pt x="0" y="1326220"/>
                  </a:cubicBezTo>
                  <a:lnTo>
                    <a:pt x="0" y="35209"/>
                  </a:lnTo>
                  <a:cubicBezTo>
                    <a:pt x="0" y="25871"/>
                    <a:pt x="3710" y="16915"/>
                    <a:pt x="10312" y="10312"/>
                  </a:cubicBezTo>
                  <a:cubicBezTo>
                    <a:pt x="16915" y="3710"/>
                    <a:pt x="25871" y="0"/>
                    <a:pt x="35209" y="0"/>
                  </a:cubicBezTo>
                  <a:close/>
                </a:path>
              </a:pathLst>
            </a:custGeom>
            <a:gradFill rotWithShape="true">
              <a:gsLst>
                <a:gs pos="0">
                  <a:srgbClr val="192385">
                    <a:alpha val="100000"/>
                  </a:srgbClr>
                </a:gs>
                <a:gs pos="100000">
                  <a:srgbClr val="2D8BBA">
                    <a:alpha val="100000"/>
                  </a:srgbClr>
                </a:gs>
              </a:gsLst>
              <a:lin ang="5400000"/>
            </a:gradFill>
          </p:spPr>
        </p:sp>
        <p:sp>
          <p:nvSpPr>
            <p:cNvPr name="TextBox 4" id="4"/>
            <p:cNvSpPr txBox="true"/>
            <p:nvPr/>
          </p:nvSpPr>
          <p:spPr>
            <a:xfrm>
              <a:off x="0" y="-38100"/>
              <a:ext cx="2931789" cy="139952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696525" y="-50561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939855" y="6204779"/>
            <a:ext cx="7075330" cy="6818045"/>
          </a:xfrm>
          <a:custGeom>
            <a:avLst/>
            <a:gdLst/>
            <a:ahLst/>
            <a:cxnLst/>
            <a:rect r="r" b="b" t="t" l="l"/>
            <a:pathLst>
              <a:path h="6818045" w="7075330">
                <a:moveTo>
                  <a:pt x="0" y="0"/>
                </a:moveTo>
                <a:lnTo>
                  <a:pt x="7075330" y="0"/>
                </a:lnTo>
                <a:lnTo>
                  <a:pt x="7075330" y="6818045"/>
                </a:lnTo>
                <a:lnTo>
                  <a:pt x="0" y="68180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871030" y="1042209"/>
            <a:ext cx="6545941" cy="1028674"/>
          </a:xfrm>
          <a:prstGeom prst="rect">
            <a:avLst/>
          </a:prstGeom>
        </p:spPr>
        <p:txBody>
          <a:bodyPr anchor="t" rtlCol="false" tIns="0" lIns="0" bIns="0" rIns="0">
            <a:spAutoFit/>
          </a:bodyPr>
          <a:lstStyle/>
          <a:p>
            <a:pPr algn="ctr">
              <a:lnSpc>
                <a:spcPts val="6641"/>
              </a:lnSpc>
            </a:pPr>
            <a:r>
              <a:rPr lang="en-US" sz="6846">
                <a:solidFill>
                  <a:srgbClr val="090147"/>
                </a:solidFill>
                <a:latin typeface="Bungee"/>
                <a:ea typeface="Bungee"/>
                <a:cs typeface="Bungee"/>
                <a:sym typeface="Bungee"/>
              </a:rPr>
              <a:t>kesimpulan</a:t>
            </a:r>
          </a:p>
        </p:txBody>
      </p:sp>
      <p:sp>
        <p:nvSpPr>
          <p:cNvPr name="TextBox 10" id="10"/>
          <p:cNvSpPr txBox="true"/>
          <p:nvPr/>
        </p:nvSpPr>
        <p:spPr>
          <a:xfrm rot="0">
            <a:off x="4141803" y="3437475"/>
            <a:ext cx="9749792" cy="3724940"/>
          </a:xfrm>
          <a:prstGeom prst="rect">
            <a:avLst/>
          </a:prstGeom>
        </p:spPr>
        <p:txBody>
          <a:bodyPr anchor="t" rtlCol="false" tIns="0" lIns="0" bIns="0" rIns="0">
            <a:spAutoFit/>
          </a:bodyPr>
          <a:lstStyle/>
          <a:p>
            <a:pPr algn="l" marL="507667" indent="-253834" lvl="1">
              <a:lnSpc>
                <a:spcPts val="3291"/>
              </a:lnSpc>
              <a:buFont typeface="Arial"/>
              <a:buChar char="•"/>
            </a:pPr>
            <a:r>
              <a:rPr lang="en-US" sz="2351" spc="25">
                <a:solidFill>
                  <a:srgbClr val="FFFFFF"/>
                </a:solidFill>
                <a:latin typeface="Krub"/>
                <a:ea typeface="Krub"/>
                <a:cs typeface="Krub"/>
                <a:sym typeface="Krub"/>
              </a:rPr>
              <a:t>Radix Sort LSD dan MSD berhasil mengurutkan data NIM dengan benar dan akurat.</a:t>
            </a:r>
          </a:p>
          <a:p>
            <a:pPr algn="l" marL="507667" indent="-253834" lvl="1">
              <a:lnSpc>
                <a:spcPts val="3291"/>
              </a:lnSpc>
              <a:buFont typeface="Arial"/>
              <a:buChar char="•"/>
            </a:pPr>
            <a:r>
              <a:rPr lang="en-US" sz="2351" spc="25">
                <a:solidFill>
                  <a:srgbClr val="FFFFFF"/>
                </a:solidFill>
                <a:latin typeface="Krub"/>
                <a:ea typeface="Krub"/>
                <a:cs typeface="Krub"/>
                <a:sym typeface="Krub"/>
              </a:rPr>
              <a:t>Radix Sort MSD menunjukkan performa terbaik dengan jumlah operasi paling sedikit dibandingkan LSD dan Bubble Sort.</a:t>
            </a:r>
          </a:p>
          <a:p>
            <a:pPr algn="l" marL="507667" indent="-253834" lvl="1">
              <a:lnSpc>
                <a:spcPts val="3291"/>
              </a:lnSpc>
              <a:buFont typeface="Arial"/>
              <a:buChar char="•"/>
            </a:pPr>
            <a:r>
              <a:rPr lang="en-US" sz="2351" spc="25">
                <a:solidFill>
                  <a:srgbClr val="FFFFFF"/>
                </a:solidFill>
                <a:latin typeface="Krub"/>
                <a:ea typeface="Krub"/>
                <a:cs typeface="Krub"/>
                <a:sym typeface="Krub"/>
              </a:rPr>
              <a:t>Bubble Sort memiliki performa paling rendah pada data berukuran besar karena kompleksitasnya O(n²).</a:t>
            </a:r>
          </a:p>
          <a:p>
            <a:pPr algn="l" marL="507667" indent="-253834" lvl="1">
              <a:lnSpc>
                <a:spcPts val="3291"/>
              </a:lnSpc>
              <a:buFont typeface="Arial"/>
              <a:buChar char="•"/>
            </a:pPr>
            <a:r>
              <a:rPr lang="en-US" sz="2351" spc="25">
                <a:solidFill>
                  <a:srgbClr val="FFFFFF"/>
                </a:solidFill>
                <a:latin typeface="Krub"/>
                <a:ea typeface="Krub"/>
                <a:cs typeface="Krub"/>
                <a:sym typeface="Krub"/>
              </a:rPr>
              <a:t>Kombinasi Radix Sort dan Ternary Search efektif untuk pengurutan serta pencarian data NIM secara cepat dan efisien.</a:t>
            </a:r>
          </a:p>
          <a:p>
            <a:pPr algn="l">
              <a:lnSpc>
                <a:spcPts val="3291"/>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2595833" y="3897289"/>
            <a:ext cx="13096334" cy="2047959"/>
          </a:xfrm>
          <a:prstGeom prst="rect">
            <a:avLst/>
          </a:prstGeom>
        </p:spPr>
        <p:txBody>
          <a:bodyPr anchor="t" rtlCol="false" tIns="0" lIns="0" bIns="0" rIns="0">
            <a:spAutoFit/>
          </a:bodyPr>
          <a:lstStyle/>
          <a:p>
            <a:pPr algn="ctr">
              <a:lnSpc>
                <a:spcPts val="13287"/>
              </a:lnSpc>
            </a:pPr>
            <a:r>
              <a:rPr lang="en-US" sz="13698">
                <a:solidFill>
                  <a:srgbClr val="090147"/>
                </a:solidFill>
                <a:latin typeface="Bungee"/>
                <a:ea typeface="Bungee"/>
                <a:cs typeface="Bungee"/>
                <a:sym typeface="Bungee"/>
              </a:rPr>
              <a:t>Q&amp;A</a:t>
            </a:r>
          </a:p>
        </p:txBody>
      </p:sp>
      <p:sp>
        <p:nvSpPr>
          <p:cNvPr name="Freeform 3" id="3"/>
          <p:cNvSpPr/>
          <p:nvPr/>
        </p:nvSpPr>
        <p:spPr>
          <a:xfrm flipH="false" flipV="false" rot="0">
            <a:off x="13434015" y="7458821"/>
            <a:ext cx="5924025" cy="4546689"/>
          </a:xfrm>
          <a:custGeom>
            <a:avLst/>
            <a:gdLst/>
            <a:ahLst/>
            <a:cxnLst/>
            <a:rect r="r" b="b" t="t" l="l"/>
            <a:pathLst>
              <a:path h="4546689" w="5924025">
                <a:moveTo>
                  <a:pt x="0" y="0"/>
                </a:moveTo>
                <a:lnTo>
                  <a:pt x="5924025" y="0"/>
                </a:lnTo>
                <a:lnTo>
                  <a:pt x="5924025" y="4546690"/>
                </a:lnTo>
                <a:lnTo>
                  <a:pt x="0" y="4546690"/>
                </a:lnTo>
                <a:lnTo>
                  <a:pt x="0" y="0"/>
                </a:lnTo>
                <a:close/>
              </a:path>
            </a:pathLst>
          </a:custGeom>
          <a:blipFill>
            <a:blip r:embed="rId2"/>
            <a:stretch>
              <a:fillRect l="0" t="0" r="0" b="0"/>
            </a:stretch>
          </a:blipFill>
        </p:spPr>
      </p:sp>
      <p:sp>
        <p:nvSpPr>
          <p:cNvPr name="Freeform 4" id="4"/>
          <p:cNvSpPr/>
          <p:nvPr/>
        </p:nvSpPr>
        <p:spPr>
          <a:xfrm flipH="true" flipV="true" rot="0">
            <a:off x="11606912" y="-134353"/>
            <a:ext cx="7147278" cy="3993541"/>
          </a:xfrm>
          <a:custGeom>
            <a:avLst/>
            <a:gdLst/>
            <a:ahLst/>
            <a:cxnLst/>
            <a:rect r="r" b="b" t="t" l="l"/>
            <a:pathLst>
              <a:path h="3993541" w="7147278">
                <a:moveTo>
                  <a:pt x="7147278" y="3993542"/>
                </a:moveTo>
                <a:lnTo>
                  <a:pt x="0" y="3993542"/>
                </a:lnTo>
                <a:lnTo>
                  <a:pt x="0" y="0"/>
                </a:lnTo>
                <a:lnTo>
                  <a:pt x="7147278" y="0"/>
                </a:lnTo>
                <a:lnTo>
                  <a:pt x="7147278" y="3993542"/>
                </a:lnTo>
                <a:close/>
              </a:path>
            </a:pathLst>
          </a:custGeom>
          <a:blipFill>
            <a:blip r:embed="rId3"/>
            <a:stretch>
              <a:fillRect l="0" t="0" r="0" b="0"/>
            </a:stretch>
          </a:blipFill>
        </p:spPr>
      </p:sp>
      <p:sp>
        <p:nvSpPr>
          <p:cNvPr name="Freeform 5" id="5"/>
          <p:cNvSpPr/>
          <p:nvPr/>
        </p:nvSpPr>
        <p:spPr>
          <a:xfrm flipH="false" flipV="false" rot="0">
            <a:off x="-2078885" y="-1028700"/>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28710" y="8229600"/>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9144000" y="7200900"/>
            <a:ext cx="2232279" cy="4114800"/>
          </a:xfrm>
          <a:custGeom>
            <a:avLst/>
            <a:gdLst/>
            <a:ahLst/>
            <a:cxnLst/>
            <a:rect r="r" b="b" t="t" l="l"/>
            <a:pathLst>
              <a:path h="4114800" w="2232279">
                <a:moveTo>
                  <a:pt x="0" y="0"/>
                </a:moveTo>
                <a:lnTo>
                  <a:pt x="2232279" y="0"/>
                </a:lnTo>
                <a:lnTo>
                  <a:pt x="2232279" y="4114800"/>
                </a:lnTo>
                <a:lnTo>
                  <a:pt x="0" y="4114800"/>
                </a:lnTo>
                <a:lnTo>
                  <a:pt x="0" y="0"/>
                </a:lnTo>
                <a:close/>
              </a:path>
            </a:pathLst>
          </a:custGeom>
          <a:blipFill>
            <a:blip r:embed="rId8"/>
            <a:stretch>
              <a:fillRect l="0" t="0" r="0" b="0"/>
            </a:stretch>
          </a:blipFill>
        </p:spPr>
      </p:sp>
      <p:sp>
        <p:nvSpPr>
          <p:cNvPr name="Freeform 8" id="8"/>
          <p:cNvSpPr/>
          <p:nvPr/>
        </p:nvSpPr>
        <p:spPr>
          <a:xfrm flipH="false" flipV="false" rot="-10576126">
            <a:off x="5029527" y="-2057400"/>
            <a:ext cx="2232279" cy="4114800"/>
          </a:xfrm>
          <a:custGeom>
            <a:avLst/>
            <a:gdLst/>
            <a:ahLst/>
            <a:cxnLst/>
            <a:rect r="r" b="b" t="t" l="l"/>
            <a:pathLst>
              <a:path h="4114800" w="2232279">
                <a:moveTo>
                  <a:pt x="0" y="0"/>
                </a:moveTo>
                <a:lnTo>
                  <a:pt x="2232279" y="0"/>
                </a:lnTo>
                <a:lnTo>
                  <a:pt x="2232279" y="4114800"/>
                </a:lnTo>
                <a:lnTo>
                  <a:pt x="0" y="4114800"/>
                </a:lnTo>
                <a:lnTo>
                  <a:pt x="0" y="0"/>
                </a:lnTo>
                <a:close/>
              </a:path>
            </a:pathLst>
          </a:custGeom>
          <a:blipFill>
            <a:blip r:embed="rId8"/>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836319" y="2923886"/>
            <a:ext cx="10486600" cy="4477328"/>
          </a:xfrm>
          <a:prstGeom prst="rect">
            <a:avLst/>
          </a:prstGeom>
        </p:spPr>
        <p:txBody>
          <a:bodyPr anchor="t" rtlCol="false" tIns="0" lIns="0" bIns="0" rIns="0">
            <a:spAutoFit/>
          </a:bodyPr>
          <a:lstStyle/>
          <a:p>
            <a:pPr algn="ctr">
              <a:lnSpc>
                <a:spcPts val="15914"/>
              </a:lnSpc>
            </a:pPr>
            <a:r>
              <a:rPr lang="en-US" sz="16407">
                <a:solidFill>
                  <a:srgbClr val="090147"/>
                </a:solidFill>
                <a:latin typeface="Bungee"/>
                <a:ea typeface="Bungee"/>
                <a:cs typeface="Bungee"/>
                <a:sym typeface="Bungee"/>
              </a:rPr>
              <a:t>Thank Tou</a:t>
            </a:r>
          </a:p>
        </p:txBody>
      </p:sp>
      <p:sp>
        <p:nvSpPr>
          <p:cNvPr name="Freeform 3" id="3"/>
          <p:cNvSpPr/>
          <p:nvPr/>
        </p:nvSpPr>
        <p:spPr>
          <a:xfrm flipH="false" flipV="false" rot="0">
            <a:off x="-652637" y="-721895"/>
            <a:ext cx="4062430" cy="4114800"/>
          </a:xfrm>
          <a:custGeom>
            <a:avLst/>
            <a:gdLst/>
            <a:ahLst/>
            <a:cxnLst/>
            <a:rect r="r" b="b" t="t" l="l"/>
            <a:pathLst>
              <a:path h="4114800" w="4062430">
                <a:moveTo>
                  <a:pt x="0" y="0"/>
                </a:moveTo>
                <a:lnTo>
                  <a:pt x="4062429" y="0"/>
                </a:lnTo>
                <a:lnTo>
                  <a:pt x="40624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08884" y="7041092"/>
            <a:ext cx="5174922" cy="5172766"/>
          </a:xfrm>
          <a:custGeom>
            <a:avLst/>
            <a:gdLst/>
            <a:ahLst/>
            <a:cxnLst/>
            <a:rect r="r" b="b" t="t" l="l"/>
            <a:pathLst>
              <a:path h="5172766" w="5174922">
                <a:moveTo>
                  <a:pt x="0" y="0"/>
                </a:moveTo>
                <a:lnTo>
                  <a:pt x="5174923" y="0"/>
                </a:lnTo>
                <a:lnTo>
                  <a:pt x="5174923" y="5172766"/>
                </a:lnTo>
                <a:lnTo>
                  <a:pt x="0" y="5172766"/>
                </a:lnTo>
                <a:lnTo>
                  <a:pt x="0" y="0"/>
                </a:lnTo>
                <a:close/>
              </a:path>
            </a:pathLst>
          </a:custGeom>
          <a:blipFill>
            <a:blip r:embed="rId4"/>
            <a:stretch>
              <a:fillRect l="0" t="0" r="0" b="0"/>
            </a:stretch>
          </a:blipFill>
        </p:spPr>
      </p:sp>
      <p:sp>
        <p:nvSpPr>
          <p:cNvPr name="Freeform 5" id="5"/>
          <p:cNvSpPr/>
          <p:nvPr/>
        </p:nvSpPr>
        <p:spPr>
          <a:xfrm flipH="false" flipV="false" rot="0">
            <a:off x="14322918" y="4783378"/>
            <a:ext cx="6733446" cy="7030847"/>
          </a:xfrm>
          <a:custGeom>
            <a:avLst/>
            <a:gdLst/>
            <a:ahLst/>
            <a:cxnLst/>
            <a:rect r="r" b="b" t="t" l="l"/>
            <a:pathLst>
              <a:path h="7030847" w="6733446">
                <a:moveTo>
                  <a:pt x="0" y="0"/>
                </a:moveTo>
                <a:lnTo>
                  <a:pt x="6733447" y="0"/>
                </a:lnTo>
                <a:lnTo>
                  <a:pt x="6733447" y="7030846"/>
                </a:lnTo>
                <a:lnTo>
                  <a:pt x="0" y="7030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882600" y="-1557683"/>
            <a:ext cx="5174922" cy="5172766"/>
          </a:xfrm>
          <a:custGeom>
            <a:avLst/>
            <a:gdLst/>
            <a:ahLst/>
            <a:cxnLst/>
            <a:rect r="r" b="b" t="t" l="l"/>
            <a:pathLst>
              <a:path h="5172766" w="5174922">
                <a:moveTo>
                  <a:pt x="0" y="0"/>
                </a:moveTo>
                <a:lnTo>
                  <a:pt x="5174922" y="0"/>
                </a:lnTo>
                <a:lnTo>
                  <a:pt x="5174922" y="5172766"/>
                </a:lnTo>
                <a:lnTo>
                  <a:pt x="0" y="5172766"/>
                </a:lnTo>
                <a:lnTo>
                  <a:pt x="0" y="0"/>
                </a:lnTo>
                <a:close/>
              </a:path>
            </a:pathLst>
          </a:custGeom>
          <a:blipFill>
            <a:blip r:embed="rId4"/>
            <a:stretch>
              <a:fillRect l="0" t="0" r="0" b="0"/>
            </a:stretch>
          </a:blipFill>
        </p:spPr>
      </p:sp>
      <p:sp>
        <p:nvSpPr>
          <p:cNvPr name="Freeform 7" id="7"/>
          <p:cNvSpPr/>
          <p:nvPr/>
        </p:nvSpPr>
        <p:spPr>
          <a:xfrm flipH="false" flipV="false" rot="0">
            <a:off x="6300712" y="-1889926"/>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0321493">
            <a:off x="6300712" y="8352127"/>
            <a:ext cx="4420195" cy="4114800"/>
          </a:xfrm>
          <a:custGeom>
            <a:avLst/>
            <a:gdLst/>
            <a:ahLst/>
            <a:cxnLst/>
            <a:rect r="r" b="b" t="t" l="l"/>
            <a:pathLst>
              <a:path h="4114800" w="4420195">
                <a:moveTo>
                  <a:pt x="0" y="0"/>
                </a:moveTo>
                <a:lnTo>
                  <a:pt x="4420195" y="0"/>
                </a:lnTo>
                <a:lnTo>
                  <a:pt x="4420195" y="4114800"/>
                </a:lnTo>
                <a:lnTo>
                  <a:pt x="0" y="4114800"/>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DAHLhxKqrHM</dc:identifier>
  <dcterms:modified xsi:type="dcterms:W3CDTF">2011-08-01T06:04:30Z</dcterms:modified>
  <cp:revision>1</cp:revision>
  <dc:title>Blue Modern Engineering Technology Group Project Presentation</dc:title>
</cp:coreProperties>
</file>